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correcting the category assumption: LoomAI is not a chatbot product. It is an AI enablement and deployment layer that can productise four behaviours from the same governed primitives. Conversational AI handles user-led journeys. Smart Brain runs fixed analysis or operational plans from system events and queues. Multi-agent deployments coordinate genuinely distinct specialists through a conversation manager. Declarative plans execute workers sequentially or in parallel. For Autotrader, authorised data can power any of these behaviours while every dealer remains isolated and governed.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docked composer first, then Max Mode. Emphasise that chat is only the surface: the differentiated value is dealer-scoped discovery, explicit evidence and a structured handoff. Do not imply the visible inventory is live Autotrader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experience transformation: AI is no longer a separate support bubble. It becomes a persistent workspace around the dealer's real pages, selected items, evidence and approved actions. Point out that the generic chat application accepts dealership-specific tools and presentations without embedding automotive logic in the generic 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phrase is: index for discovery, re-read for decisions. A full baseline is the recovery path; targeted event reconciliation keeps an individual stock record current. Dealer policies remain a separately attributed knowledge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LoomAI as complementary. Autotrader owns trusted data, automotive products and the retailer relationship. LoomAI makes those approved assets usable inside a governed AI journey on dealer-owned surfaces.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decision, not a generic follow-up. Ask for the sponsor, integration manager, sandbox/grants, written data rights, the preferred handoff path and one design-partner dealer. The next working session should be architecture plus data rights.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OMAI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7620">
            <a:solidFill>
              <a:srgbClr val="DCE5F6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oudashraf/Downloads/Projects/TheBaseRepo/Platfrom/loomai-site/public/assets/reference/lo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"/>
            <a:ext cx="1609344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3108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126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LOOMAI PLATFORM X AUTOTRADER CONNECT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84048" y="66019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667797"/>
                </a:solidFill>
              </a:rPr>
              <a:t>CONFIDENTIAL PARTNERSHIP DISCUSSION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1292840" y="65836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97"/>
                </a:solidFill>
              </a:rPr>
              <a:t>01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BCE7"/>
                </a:solidFill>
              </a:rPr>
              <a:t>AI ENABLEMENT, NOT ANOTHER CHATBOT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enablement layer. Four product behaviours.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21208" y="16276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0466E"/>
                </a:solidFill>
              </a:rPr>
              <a:t>LoomAI supports conversational, event-driven and agentic products inside a governed, dealer-isolated deployment.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167128"/>
            <a:ext cx="7333488" cy="4005072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016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9BADCC">
                <a:alpha val="12000"/>
              </a:srgbClr>
            </a:outerShdw>
          </a:effectLst>
        </p:spPr>
      </p:sp>
      <p:pic>
        <p:nvPicPr>
          <p:cNvPr id="10" name="Image 1" descr="/Users/mahmoudashraf/Downloads/Projects/TheBaseRepo/Final_Documentation/Presentations/assets/loomai-ai-enablement-products-autotrader-2026-10-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249424"/>
            <a:ext cx="7168896" cy="38130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58952" y="2404872"/>
            <a:ext cx="1170432" cy="292608"/>
          </a:xfrm>
          <a:prstGeom prst="roundRect">
            <a:avLst>
              <a:gd name="adj" fmla="val 18750"/>
            </a:avLst>
          </a:prstGeom>
          <a:solidFill>
            <a:srgbClr val="EAFBFE"/>
          </a:solidFill>
          <a:ln w="12700">
            <a:solidFill>
              <a:srgbClr val="EAFBF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32104" y="247345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BCE7"/>
                </a:solidFill>
              </a:rPr>
              <a:t>AUTHORISED DATA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743200" y="2404872"/>
            <a:ext cx="1581912" cy="292608"/>
          </a:xfrm>
          <a:prstGeom prst="roundRect">
            <a:avLst>
              <a:gd name="adj" fmla="val 18750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816352" y="2473452"/>
            <a:ext cx="1435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443F5"/>
                </a:solidFill>
              </a:rPr>
              <a:t>GOVERNED ENABLEMENT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126480" y="240487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E9F8F1"/>
          </a:solidFill>
          <a:ln w="12700">
            <a:solidFill>
              <a:srgbClr val="E9F8F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99632" y="247345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9F74"/>
                </a:solidFill>
              </a:rPr>
              <a:t>DEALER OUTCOMES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074152" y="2194560"/>
            <a:ext cx="3584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15" kern="0" dirty="0">
                <a:solidFill>
                  <a:srgbClr val="1265F3"/>
                </a:solidFill>
              </a:rPr>
              <a:t>LOOMAI PRODUCT BEHAVIOURS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8065008" y="2450592"/>
            <a:ext cx="3593592" cy="713232"/>
          </a:xfrm>
          <a:prstGeom prst="roundRect">
            <a:avLst>
              <a:gd name="adj" fmla="val 6410"/>
            </a:avLst>
          </a:prstGeom>
          <a:solidFill>
            <a:srgbClr val="EAFBFE"/>
          </a:solidFill>
          <a:ln w="9525">
            <a:solidFill>
              <a:srgbClr val="C9D7E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47888" y="2606040"/>
            <a:ext cx="384048" cy="384048"/>
          </a:xfrm>
          <a:prstGeom prst="ellipse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47888" y="2711196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8759952" y="2569464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Conversational AI</a:t>
            </a:r>
            <a:endParaRPr lang="en-US" sz="1120" dirty="0"/>
          </a:p>
        </p:txBody>
      </p:sp>
      <p:sp>
        <p:nvSpPr>
          <p:cNvPr id="22" name="Text 18"/>
          <p:cNvSpPr/>
          <p:nvPr/>
        </p:nvSpPr>
        <p:spPr>
          <a:xfrm>
            <a:off x="8759952" y="2816352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0466E"/>
                </a:solidFill>
              </a:rPr>
              <a:t>User-led dialogue, grounded answers and governed actions.</a:t>
            </a:r>
            <a:endParaRPr lang="en-US" sz="780" dirty="0"/>
          </a:p>
        </p:txBody>
      </p:sp>
      <p:sp>
        <p:nvSpPr>
          <p:cNvPr id="23" name="Shape 19"/>
          <p:cNvSpPr/>
          <p:nvPr/>
        </p:nvSpPr>
        <p:spPr>
          <a:xfrm>
            <a:off x="8065008" y="3282696"/>
            <a:ext cx="3593592" cy="713232"/>
          </a:xfrm>
          <a:prstGeom prst="roundRect">
            <a:avLst>
              <a:gd name="adj" fmla="val 6410"/>
            </a:avLst>
          </a:prstGeom>
          <a:solidFill>
            <a:srgbClr val="EEF4FF"/>
          </a:solidFill>
          <a:ln w="9525">
            <a:solidFill>
              <a:srgbClr val="C9D7E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47888" y="3438144"/>
            <a:ext cx="384048" cy="384048"/>
          </a:xfrm>
          <a:prstGeom prst="ellipse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47888" y="354330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759952" y="340156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Smart Brain</a:t>
            </a:r>
            <a:endParaRPr lang="en-US" sz="1120" dirty="0"/>
          </a:p>
        </p:txBody>
      </p:sp>
      <p:sp>
        <p:nvSpPr>
          <p:cNvPr id="27" name="Text 23"/>
          <p:cNvSpPr/>
          <p:nvPr/>
        </p:nvSpPr>
        <p:spPr>
          <a:xfrm>
            <a:off x="8759952" y="364845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0466E"/>
                </a:solidFill>
              </a:rPr>
              <a:t>Events trigger fixed plans, task queues and durable analysis.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8065008" y="4114800"/>
            <a:ext cx="3593592" cy="713232"/>
          </a:xfrm>
          <a:prstGeom prst="roundRect">
            <a:avLst>
              <a:gd name="adj" fmla="val 6410"/>
            </a:avLst>
          </a:prstGeom>
          <a:solidFill>
            <a:srgbClr val="F2EEFF"/>
          </a:solidFill>
          <a:ln w="9525">
            <a:solidFill>
              <a:srgbClr val="C9D7E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247888" y="4270248"/>
            <a:ext cx="384048" cy="384048"/>
          </a:xfrm>
          <a:prstGeom prst="ellipse">
            <a:avLst/>
          </a:prstGeom>
          <a:solidFill>
            <a:srgbClr val="7443F5"/>
          </a:solidFill>
          <a:ln w="12700">
            <a:solidFill>
              <a:srgbClr val="7443F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247888" y="437540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8759952" y="423367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Multi-agent teams</a:t>
            </a:r>
            <a:endParaRPr lang="en-US" sz="1120" dirty="0"/>
          </a:p>
        </p:txBody>
      </p:sp>
      <p:sp>
        <p:nvSpPr>
          <p:cNvPr id="32" name="Text 28"/>
          <p:cNvSpPr/>
          <p:nvPr/>
        </p:nvSpPr>
        <p:spPr>
          <a:xfrm>
            <a:off x="8759952" y="448056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0466E"/>
                </a:solidFill>
              </a:rPr>
              <a:t>A conversation manager coordinates specialist workers.</a:t>
            </a:r>
            <a:endParaRPr lang="en-US" sz="780" dirty="0"/>
          </a:p>
        </p:txBody>
      </p:sp>
      <p:sp>
        <p:nvSpPr>
          <p:cNvPr id="33" name="Shape 29"/>
          <p:cNvSpPr/>
          <p:nvPr/>
        </p:nvSpPr>
        <p:spPr>
          <a:xfrm>
            <a:off x="8065008" y="4946904"/>
            <a:ext cx="3593592" cy="713232"/>
          </a:xfrm>
          <a:prstGeom prst="roundRect">
            <a:avLst>
              <a:gd name="adj" fmla="val 6410"/>
            </a:avLst>
          </a:prstGeom>
          <a:solidFill>
            <a:srgbClr val="E9F8F1"/>
          </a:solidFill>
          <a:ln w="9525">
            <a:solidFill>
              <a:srgbClr val="C9D7E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247888" y="5102352"/>
            <a:ext cx="384048" cy="384048"/>
          </a:xfrm>
          <a:prstGeom prst="ellipse">
            <a:avLst/>
          </a:prstGeom>
          <a:solidFill>
            <a:srgbClr val="0F9F74"/>
          </a:solidFill>
          <a:ln w="12700">
            <a:solidFill>
              <a:srgbClr val="0F9F7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247888" y="520750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8759952" y="5065776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Sequential + parallel plans</a:t>
            </a:r>
            <a:endParaRPr lang="en-US" sz="1120" dirty="0"/>
          </a:p>
        </p:txBody>
      </p:sp>
      <p:sp>
        <p:nvSpPr>
          <p:cNvPr id="37" name="Text 33"/>
          <p:cNvSpPr/>
          <p:nvPr/>
        </p:nvSpPr>
        <p:spPr>
          <a:xfrm>
            <a:off x="8759952" y="5312664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0466E"/>
                </a:solidFill>
              </a:rPr>
              <a:t>Declarative workers run in order or concurrently.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065008" y="5824728"/>
            <a:ext cx="3593592" cy="347472"/>
          </a:xfrm>
          <a:prstGeom prst="roundRect">
            <a:avLst>
              <a:gd name="adj" fmla="val 10526"/>
            </a:avLst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229600" y="5943600"/>
            <a:ext cx="32552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Templates + plugins + policies -&gt; one isolated dealer deployment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oudashraf/Downloads/Projects/TheBaseRepo/Platfrom/loomai-site/public/assets/reference/lo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"/>
            <a:ext cx="1609344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3108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126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EXPERIENCE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84048" y="66019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667797"/>
                </a:solidFill>
              </a:rPr>
              <a:t>CONFIDENTIAL PARTNERSHIP DISCUSSION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1292840" y="65836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97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BCE7"/>
                </a:solidFill>
              </a:rPr>
              <a:t>FROM INTENT TO ACTION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journey, from a vague need to a qualified handoff.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21208" y="16276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0466E"/>
                </a:solidFill>
              </a:rPr>
              <a:t>The buyer can search naturally, understand the trade-offs and move forward without repeating the conversation.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2139696"/>
            <a:ext cx="5468112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9050" dist="50800" dir="2700000">
              <a:srgbClr val="9BADCC">
                <a:alpha val="16000"/>
              </a:srgbClr>
            </a:outerShdw>
          </a:effectLst>
        </p:spPr>
      </p:sp>
      <p:pic>
        <p:nvPicPr>
          <p:cNvPr id="10" name="Image 1" descr="/Users/mahmoudashraf/Downloads/Projects/TheBaseRepo/Final_Documentation/Presentations/assets/autotrader-dealership-live-demo-2026-10-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2267712"/>
            <a:ext cx="5212080" cy="32552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268712" y="2377440"/>
            <a:ext cx="932688" cy="292608"/>
          </a:xfrm>
          <a:prstGeom prst="roundRect">
            <a:avLst>
              <a:gd name="adj" fmla="val 18750"/>
            </a:avLst>
          </a:prstGeom>
          <a:solidFill>
            <a:srgbClr val="E9F8F1"/>
          </a:solidFill>
          <a:ln w="12700">
            <a:solidFill>
              <a:srgbClr val="E9F8F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341864" y="2446020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9F74"/>
                </a:solidFill>
              </a:rPr>
              <a:t>LIVE DEMO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30352" y="212140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0352" y="2121408"/>
            <a:ext cx="54864" cy="566928"/>
          </a:xfrm>
          <a:prstGeom prst="rect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" y="2286000"/>
            <a:ext cx="347472" cy="347472"/>
          </a:xfrm>
          <a:prstGeom prst="ellipse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4944" y="23820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52144" y="223113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Describe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1152144" y="2478024"/>
            <a:ext cx="4471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66E"/>
                </a:solidFill>
              </a:rPr>
              <a:t>Everyday needs, budget, journey and preferences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30352" y="280720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0352" y="2807208"/>
            <a:ext cx="54864" cy="566928"/>
          </a:xfrm>
          <a:prstGeom prst="rect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94944" y="2971800"/>
            <a:ext cx="347472" cy="347472"/>
          </a:xfrm>
          <a:prstGeom prst="ellipse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94944" y="30678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" y="291693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Discover</a:t>
            </a:r>
            <a:endParaRPr lang="en-US" sz="1120" dirty="0"/>
          </a:p>
        </p:txBody>
      </p:sp>
      <p:sp>
        <p:nvSpPr>
          <p:cNvPr id="24" name="Text 20"/>
          <p:cNvSpPr/>
          <p:nvPr/>
        </p:nvSpPr>
        <p:spPr>
          <a:xfrm>
            <a:off x="1152144" y="3163824"/>
            <a:ext cx="4471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66E"/>
                </a:solidFill>
              </a:rPr>
              <a:t>Semantic shortlist from this dealer's permitted stock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30352" y="349300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30352" y="3493008"/>
            <a:ext cx="54864" cy="566928"/>
          </a:xfrm>
          <a:prstGeom prst="rect">
            <a:avLst/>
          </a:prstGeom>
          <a:solidFill>
            <a:srgbClr val="7443F5"/>
          </a:solidFill>
          <a:ln w="12700">
            <a:solidFill>
              <a:srgbClr val="7443F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94944" y="3657600"/>
            <a:ext cx="347472" cy="347472"/>
          </a:xfrm>
          <a:prstGeom prst="ellipse">
            <a:avLst/>
          </a:prstGeom>
          <a:solidFill>
            <a:srgbClr val="7443F5"/>
          </a:solidFill>
          <a:ln w="12700">
            <a:solidFill>
              <a:srgbClr val="7443F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4944" y="37536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52144" y="360273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Compare</a:t>
            </a:r>
            <a:endParaRPr lang="en-US" sz="1120" dirty="0"/>
          </a:p>
        </p:txBody>
      </p:sp>
      <p:sp>
        <p:nvSpPr>
          <p:cNvPr id="30" name="Text 26"/>
          <p:cNvSpPr/>
          <p:nvPr/>
        </p:nvSpPr>
        <p:spPr>
          <a:xfrm>
            <a:off x="1152144" y="3849624"/>
            <a:ext cx="4471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66E"/>
                </a:solidFill>
              </a:rPr>
              <a:t>Consistent facts, evidence and visible trade-offs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30352" y="417880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30352" y="4178808"/>
            <a:ext cx="54864" cy="566928"/>
          </a:xfrm>
          <a:prstGeom prst="rect">
            <a:avLst/>
          </a:prstGeom>
          <a:solidFill>
            <a:srgbClr val="0F9F74"/>
          </a:solidFill>
          <a:ln w="12700">
            <a:solidFill>
              <a:srgbClr val="0F9F7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94944" y="4343400"/>
            <a:ext cx="347472" cy="347472"/>
          </a:xfrm>
          <a:prstGeom prst="ellipse">
            <a:avLst/>
          </a:prstGeom>
          <a:solidFill>
            <a:srgbClr val="0F9F74"/>
          </a:solidFill>
          <a:ln w="12700">
            <a:solidFill>
              <a:srgbClr val="0F9F7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94944" y="44394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52144" y="428853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Verify</a:t>
            </a:r>
            <a:endParaRPr lang="en-US" sz="1120" dirty="0"/>
          </a:p>
        </p:txBody>
      </p:sp>
      <p:sp>
        <p:nvSpPr>
          <p:cNvPr id="36" name="Text 32"/>
          <p:cNvSpPr/>
          <p:nvPr/>
        </p:nvSpPr>
        <p:spPr>
          <a:xfrm>
            <a:off x="1152144" y="4535424"/>
            <a:ext cx="4471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66E"/>
                </a:solidFill>
              </a:rPr>
              <a:t>Re-read current price, availability and key facts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530352" y="486460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30352" y="4864608"/>
            <a:ext cx="54864" cy="566928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94944" y="5029200"/>
            <a:ext cx="347472" cy="347472"/>
          </a:xfrm>
          <a:prstGeom prst="ellipse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94944" y="51252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152144" y="497433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Handoff</a:t>
            </a:r>
            <a:endParaRPr lang="en-US" sz="1120" dirty="0"/>
          </a:p>
        </p:txBody>
      </p:sp>
      <p:sp>
        <p:nvSpPr>
          <p:cNvPr id="42" name="Text 38"/>
          <p:cNvSpPr/>
          <p:nvPr/>
        </p:nvSpPr>
        <p:spPr>
          <a:xfrm>
            <a:off x="1152144" y="5221224"/>
            <a:ext cx="4471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66E"/>
                </a:solidFill>
              </a:rPr>
              <a:t>Customer-approved context plus a durable receipt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530352" y="5806440"/>
            <a:ext cx="11100816" cy="411480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10160">
            <a:solidFill>
              <a:srgbClr val="C9D7E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49808" y="59344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65F3"/>
                </a:solidFill>
              </a:rPr>
              <a:t>Customer surface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1828800" y="5907024"/>
            <a:ext cx="8065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448"/>
                </a:solidFill>
              </a:rPr>
              <a:t>Docked chat for quick questions  |  Max workspace for search, comparison, sources and confirmed actions</a:t>
            </a:r>
            <a:endParaRPr lang="en-US" sz="920" dirty="0"/>
          </a:p>
        </p:txBody>
      </p:sp>
      <p:sp>
        <p:nvSpPr>
          <p:cNvPr id="46" name="Text 42"/>
          <p:cNvSpPr/>
          <p:nvPr/>
        </p:nvSpPr>
        <p:spPr>
          <a:xfrm>
            <a:off x="9829800" y="5916168"/>
            <a:ext cx="1536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7443F5"/>
                </a:solidFill>
              </a:rPr>
              <a:t>loomai.pro/demos/dealership-ai</a:t>
            </a:r>
            <a:endParaRPr lang="en-US" sz="720" dirty="0"/>
          </a:p>
        </p:txBody>
      </p:sp>
      <p:sp>
        <p:nvSpPr>
          <p:cNvPr id="47" name="Text 43"/>
          <p:cNvSpPr/>
          <p:nvPr/>
        </p:nvSpPr>
        <p:spPr>
          <a:xfrm>
            <a:off x="6446520" y="5559552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67797"/>
                </a:solidFill>
              </a:rPr>
              <a:t>Demonstration inventory is fictional and clearly disclosed in the experience.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oudashraf/Downloads/Projects/TheBaseRepo/Platfrom/loomai-site/public/assets/reference/lo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"/>
            <a:ext cx="1609344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3108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126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AI-ENABLED WORKSPACE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84048" y="66019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667797"/>
                </a:solidFill>
              </a:rPr>
              <a:t>CONFIDENTIAL PARTNERSHIP DISCUSSION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1292840" y="65836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97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BCE7"/>
                </a:solidFill>
              </a:rPr>
              <a:t>BEYOND CHAT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the dealership website into an AI-enabled workspace.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21208" y="16276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0466E"/>
                </a:solidFill>
              </a:rPr>
              <a:t>The assistant carries context, evidence and governed tools through the customer's journey.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" y="2176272"/>
            <a:ext cx="2286000" cy="1225296"/>
          </a:xfrm>
          <a:prstGeom prst="roundRect">
            <a:avLst>
              <a:gd name="adj" fmla="val 5970"/>
            </a:avLst>
          </a:prstGeom>
          <a:solidFill>
            <a:srgbClr val="EAFBFE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2176272"/>
            <a:ext cx="54864" cy="1225296"/>
          </a:xfrm>
          <a:prstGeom prst="rect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" y="2340864"/>
            <a:ext cx="347472" cy="347472"/>
          </a:xfrm>
          <a:prstGeom prst="ellipse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43687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" y="235000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Persistent context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1152144" y="2660904"/>
            <a:ext cx="14996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Conversation, selected vehicles and attached pages persist across navigation.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3017520" y="2176272"/>
            <a:ext cx="2286000" cy="1225296"/>
          </a:xfrm>
          <a:prstGeom prst="roundRect">
            <a:avLst>
              <a:gd name="adj" fmla="val 5970"/>
            </a:avLst>
          </a:prstGeom>
          <a:solidFill>
            <a:srgbClr val="EEF4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017520" y="2176272"/>
            <a:ext cx="54864" cy="1225296"/>
          </a:xfrm>
          <a:prstGeom prst="rect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82112" y="2340864"/>
            <a:ext cx="347472" cy="347472"/>
          </a:xfrm>
          <a:prstGeom prst="ellipse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82112" y="243687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39312" y="235000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Adaptive tools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3639312" y="2660904"/>
            <a:ext cx="14996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Browse stock or switch to vehicle-specific tools without losing either scope.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530352" y="3675888"/>
            <a:ext cx="2286000" cy="1225296"/>
          </a:xfrm>
          <a:prstGeom prst="roundRect">
            <a:avLst>
              <a:gd name="adj" fmla="val 5970"/>
            </a:avLst>
          </a:prstGeom>
          <a:solidFill>
            <a:srgbClr val="F2EE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0352" y="3675888"/>
            <a:ext cx="54864" cy="1225296"/>
          </a:xfrm>
          <a:prstGeom prst="rect">
            <a:avLst/>
          </a:prstGeom>
          <a:solidFill>
            <a:srgbClr val="7443F5"/>
          </a:solidFill>
          <a:ln w="12700">
            <a:solidFill>
              <a:srgbClr val="7443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4944" y="3840480"/>
            <a:ext cx="347472" cy="347472"/>
          </a:xfrm>
          <a:prstGeom prst="ellipse">
            <a:avLst/>
          </a:prstGeom>
          <a:solidFill>
            <a:srgbClr val="7443F5"/>
          </a:solidFill>
          <a:ln w="12700">
            <a:solidFill>
              <a:srgbClr val="7443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4944" y="393649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52144" y="3849624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Visible evidence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1152144" y="4160520"/>
            <a:ext cx="14996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Combine live provider facts, indexed stock, dealership documents and attachments.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3017520" y="3675888"/>
            <a:ext cx="2286000" cy="1225296"/>
          </a:xfrm>
          <a:prstGeom prst="roundRect">
            <a:avLst>
              <a:gd name="adj" fmla="val 5970"/>
            </a:avLst>
          </a:prstGeom>
          <a:solidFill>
            <a:srgbClr val="E9F8F1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017520" y="3675888"/>
            <a:ext cx="54864" cy="1225296"/>
          </a:xfrm>
          <a:prstGeom prst="rect">
            <a:avLst/>
          </a:prstGeom>
          <a:solidFill>
            <a:srgbClr val="0F9F74"/>
          </a:solidFill>
          <a:ln w="12700">
            <a:solidFill>
              <a:srgbClr val="0F9F7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182112" y="3840480"/>
            <a:ext cx="347472" cy="347472"/>
          </a:xfrm>
          <a:prstGeom prst="ellipse">
            <a:avLst/>
          </a:prstGeom>
          <a:solidFill>
            <a:srgbClr val="0F9F74"/>
          </a:solidFill>
          <a:ln w="12700">
            <a:solidFill>
              <a:srgbClr val="0F9F7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82112" y="393649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639312" y="3849624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Governed actions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3639312" y="4160520"/>
            <a:ext cx="14996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Request a test drive, callback or handoff with confirmation and a durable receipt.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5596128" y="2157984"/>
            <a:ext cx="6044184" cy="3346704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7780" dist="50800" dir="2700000">
              <a:srgbClr val="9BADCC">
                <a:alpha val="14000"/>
              </a:srgbClr>
            </a:outerShdw>
          </a:effectLst>
        </p:spPr>
      </p:sp>
      <p:pic>
        <p:nvPicPr>
          <p:cNvPr id="34" name="Image 1" descr="/Users/mahmoudashraf/Downloads/Projects/TheBaseRepo/Final_Documentation/Presentations/assets/dealership-ai-workspace-max-mode-2026-10-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276856"/>
            <a:ext cx="5806440" cy="3191256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6272784" y="2596896"/>
            <a:ext cx="45262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9D7E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419088" y="2775204"/>
            <a:ext cx="42336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02448"/>
                </a:solidFill>
              </a:rPr>
              <a:t>Live vehicle facts + dealer policy evidence + governed actions</a:t>
            </a:r>
            <a:endParaRPr lang="en-US" sz="770" dirty="0"/>
          </a:p>
        </p:txBody>
      </p:sp>
      <p:sp>
        <p:nvSpPr>
          <p:cNvPr id="37" name="Shape 33"/>
          <p:cNvSpPr/>
          <p:nvPr/>
        </p:nvSpPr>
        <p:spPr>
          <a:xfrm>
            <a:off x="10012680" y="239572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0085832" y="2464308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443F5"/>
                </a:solidFill>
              </a:rPr>
              <a:t>MAX WORKSPACE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530352" y="5733288"/>
            <a:ext cx="11100816" cy="502920"/>
          </a:xfrm>
          <a:prstGeom prst="roundRect">
            <a:avLst>
              <a:gd name="adj" fmla="val 9091"/>
            </a:avLst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13232" y="5916168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Dealer website</a:t>
            </a:r>
            <a:endParaRPr lang="en-US" sz="840" dirty="0"/>
          </a:p>
        </p:txBody>
      </p:sp>
      <p:sp>
        <p:nvSpPr>
          <p:cNvPr id="41" name="Shape 37"/>
          <p:cNvSpPr/>
          <p:nvPr/>
        </p:nvSpPr>
        <p:spPr>
          <a:xfrm>
            <a:off x="2542032" y="5833872"/>
            <a:ext cx="219456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926080" y="5916168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Shared context</a:t>
            </a:r>
            <a:endParaRPr lang="en-US" sz="840" dirty="0"/>
          </a:p>
        </p:txBody>
      </p:sp>
      <p:sp>
        <p:nvSpPr>
          <p:cNvPr id="43" name="Shape 39"/>
          <p:cNvSpPr/>
          <p:nvPr/>
        </p:nvSpPr>
        <p:spPr>
          <a:xfrm>
            <a:off x="4754880" y="5833872"/>
            <a:ext cx="219456" cy="310896"/>
          </a:xfrm>
          <a:prstGeom prst="chevron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138928" y="5916168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EE8FF"/>
                </a:solidFill>
              </a:rPr>
              <a:t>AI workspace</a:t>
            </a:r>
            <a:endParaRPr lang="en-US" sz="840" dirty="0"/>
          </a:p>
        </p:txBody>
      </p:sp>
      <p:sp>
        <p:nvSpPr>
          <p:cNvPr id="45" name="Shape 41"/>
          <p:cNvSpPr/>
          <p:nvPr/>
        </p:nvSpPr>
        <p:spPr>
          <a:xfrm>
            <a:off x="6967728" y="5833872"/>
            <a:ext cx="219456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351776" y="5916168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Live facts + policy evidence</a:t>
            </a:r>
            <a:endParaRPr lang="en-US" sz="840" dirty="0"/>
          </a:p>
        </p:txBody>
      </p:sp>
      <p:sp>
        <p:nvSpPr>
          <p:cNvPr id="47" name="Shape 43"/>
          <p:cNvSpPr/>
          <p:nvPr/>
        </p:nvSpPr>
        <p:spPr>
          <a:xfrm>
            <a:off x="9180576" y="5833872"/>
            <a:ext cx="219456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564624" y="5916168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Customer-approved outcome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oudashraf/Downloads/Projects/TheBaseRepo/Platfrom/loomai-site/public/assets/reference/lo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"/>
            <a:ext cx="1609344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3108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126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FRESHNESS AND GROUNDED REASONING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84048" y="66019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667797"/>
                </a:solidFill>
              </a:rPr>
              <a:t>CONFIDENTIAL PARTNERSHIP DISCUSSION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1292840" y="65836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97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BCE7"/>
                </a:solidFill>
              </a:rPr>
              <a:t>DATA FRESHNESS AND GROUNDED REASONING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stays live. Indexed data stays useful.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21208" y="16276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0466E"/>
                </a:solidFill>
              </a:rPr>
              <a:t>LoomAI separates discovery evidence from operational truth, then revalidates important facts before a decision.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" y="2395728"/>
            <a:ext cx="1874520" cy="1170432"/>
          </a:xfrm>
          <a:prstGeom prst="roundRect">
            <a:avLst>
              <a:gd name="adj" fmla="val 6250"/>
            </a:avLst>
          </a:prstGeom>
          <a:solidFill>
            <a:srgbClr val="EAFBFE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2395728"/>
            <a:ext cx="54864" cy="1170432"/>
          </a:xfrm>
          <a:prstGeom prst="rect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569464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Autotrader Connect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49808" y="2880360"/>
            <a:ext cx="1490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Dealer-scoped baseline + stock events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2487168" y="2816352"/>
            <a:ext cx="228600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70632" y="2395728"/>
            <a:ext cx="1874520" cy="1170432"/>
          </a:xfrm>
          <a:prstGeom prst="roundRect">
            <a:avLst>
              <a:gd name="adj" fmla="val 6250"/>
            </a:avLst>
          </a:prstGeom>
          <a:solidFill>
            <a:srgbClr val="F2EE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70632" y="2395728"/>
            <a:ext cx="54864" cy="1170432"/>
          </a:xfrm>
          <a:prstGeom prst="rect">
            <a:avLst/>
          </a:prstGeom>
          <a:solidFill>
            <a:srgbClr val="7443F5"/>
          </a:solidFill>
          <a:ln w="12700">
            <a:solidFill>
              <a:srgbClr val="7443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90088" y="2569464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DATA plugin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2990088" y="2880360"/>
            <a:ext cx="1490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Authenticate, normalise, reconcile and delete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4727448" y="2816352"/>
            <a:ext cx="228600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10912" y="2395728"/>
            <a:ext cx="1874520" cy="1170432"/>
          </a:xfrm>
          <a:prstGeom prst="roundRect">
            <a:avLst>
              <a:gd name="adj" fmla="val 6250"/>
            </a:avLst>
          </a:prstGeom>
          <a:solidFill>
            <a:srgbClr val="EEF4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10912" y="2395728"/>
            <a:ext cx="54864" cy="1170432"/>
          </a:xfrm>
          <a:prstGeom prst="rect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30368" y="2569464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Dealer projection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5230368" y="2880360"/>
            <a:ext cx="1490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Typed current records with source identity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6967728" y="2816352"/>
            <a:ext cx="228600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51192" y="2395728"/>
            <a:ext cx="1874520" cy="1170432"/>
          </a:xfrm>
          <a:prstGeom prst="roundRect">
            <a:avLst>
              <a:gd name="adj" fmla="val 6250"/>
            </a:avLst>
          </a:prstGeom>
          <a:solidFill>
            <a:srgbClr val="E9F8F1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251192" y="2395728"/>
            <a:ext cx="54864" cy="1170432"/>
          </a:xfrm>
          <a:prstGeom prst="rect">
            <a:avLst/>
          </a:prstGeom>
          <a:solidFill>
            <a:srgbClr val="0F9F74"/>
          </a:solidFill>
          <a:ln w="12700">
            <a:solidFill>
              <a:srgbClr val="0F9F7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70648" y="2569464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Semantic index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7470648" y="2880360"/>
            <a:ext cx="1490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Derived discovery evidence, rebuildable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9208008" y="2816352"/>
            <a:ext cx="228600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491472" y="2395728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4DD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491472" y="2395728"/>
            <a:ext cx="54864" cy="1170432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10928" y="2569464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Grounded answer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9710928" y="2880360"/>
            <a:ext cx="17647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Source, freshness and unsupported-field honesty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530352" y="3895344"/>
            <a:ext cx="5349240" cy="1225296"/>
          </a:xfrm>
          <a:prstGeom prst="roundRect">
            <a:avLst>
              <a:gd name="adj" fmla="val 4478"/>
            </a:avLst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5528" y="413308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EE8FF"/>
                </a:solidFill>
              </a:rPr>
              <a:t>EVENT PATH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95528" y="437083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Stock change -&gt; verified notification -&gt; targeted stockId fetch -&gt; upsert or delete -&gt; indexing completion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26480" y="3895344"/>
            <a:ext cx="551383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82512" y="413308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265F3"/>
                </a:solidFill>
              </a:rPr>
              <a:t>DECISION PATH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382512" y="4370832"/>
            <a:ext cx="4956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448"/>
                </a:solidFill>
              </a:rPr>
              <a:t>Use the index to find candidates. Use a typed live action to confirm price, availability or evidence before presenting or handing off.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30352" y="5422392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EEF4FF"/>
          </a:solidFill>
          <a:ln w="8890">
            <a:solidFill>
              <a:srgbClr val="C9D7E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" y="5559552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448"/>
                </a:solidFill>
              </a:rPr>
              <a:t>1 advertiser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40080" y="5751576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97"/>
                </a:solidFill>
              </a:rPr>
              <a:t>per deployment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2761488" y="5422392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F2EEFF"/>
          </a:solidFill>
          <a:ln w="8890">
            <a:solidFill>
              <a:srgbClr val="C9D7E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871216" y="5559552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448"/>
                </a:solidFill>
              </a:rPr>
              <a:t>Permitted fields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871216" y="5751576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97"/>
                </a:solidFill>
              </a:rPr>
              <a:t>only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992624" y="5422392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EEF4FF"/>
          </a:solidFill>
          <a:ln w="8890">
            <a:solidFill>
              <a:srgbClr val="C9D7E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102352" y="5559552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448"/>
                </a:solidFill>
              </a:rPr>
              <a:t>No cross-dealer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102352" y="5751576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97"/>
                </a:solidFill>
              </a:rPr>
              <a:t>retrieval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7223760" y="5422392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F2EEFF"/>
          </a:solidFill>
          <a:ln w="8890">
            <a:solidFill>
              <a:srgbClr val="C9D7E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33488" y="5559552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448"/>
                </a:solidFill>
              </a:rPr>
              <a:t>Deterministic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333488" y="5751576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97"/>
                </a:solidFill>
              </a:rPr>
              <a:t>deletion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9454896" y="5422392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EEF4FF"/>
          </a:solidFill>
          <a:ln w="8890">
            <a:solidFill>
              <a:srgbClr val="C9D7E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564624" y="5559552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448"/>
                </a:solidFill>
              </a:rPr>
              <a:t>Model is never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9564624" y="5751576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97"/>
                </a:solidFill>
              </a:rPr>
              <a:t>the authority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6592824"/>
            <a:ext cx="7223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667797"/>
                </a:solidFill>
              </a:rPr>
              <a:t>Architecture proposed for a granted Connect capability; production rights and contracts remain to be agreed.</a:t>
            </a:r>
            <a:endParaRPr lang="en-US" sz="6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oudashraf/Downloads/Projects/TheBaseRepo/Platfrom/loomai-site/public/assets/reference/lo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"/>
            <a:ext cx="1609344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3108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126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PARTNER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84048" y="66019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667797"/>
                </a:solidFill>
              </a:rPr>
              <a:t>CONFIDENTIAL PARTNERSHIP DISCUSSION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1292840" y="65836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97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BCE7"/>
                </a:solidFill>
              </a:rPr>
              <a:t>EXTEND AUTOTRADER'S PLATFORM WITHOUT COMPETING WITH IT.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Autotrader remains the data and automotive-product authority. LoomAI provides the governed AI experience and repeatable deployment layer.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30352" y="2194560"/>
            <a:ext cx="3401568" cy="2359152"/>
          </a:xfrm>
          <a:prstGeom prst="roundRect">
            <a:avLst>
              <a:gd name="adj" fmla="val 2713"/>
            </a:avLst>
          </a:prstGeom>
          <a:solidFill>
            <a:srgbClr val="EAFBFE"/>
          </a:solidFill>
          <a:ln w="12700">
            <a:solidFill>
              <a:srgbClr val="A9DD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496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5BCE7"/>
                </a:solidFill>
              </a:rPr>
              <a:t>AUTOTRADER BRINGS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4672" y="2761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B4D"/>
                </a:solidFill>
              </a:rPr>
              <a:t>Trusted automotive authority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3191256"/>
            <a:ext cx="276148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Authorised data and advertiser scope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Connect capabilities and real-time contracts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Marketplace reach and retailer relationships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Deal Builder, Co-Driver and conversion journeys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96512" y="2999232"/>
            <a:ext cx="658368" cy="658368"/>
          </a:xfrm>
          <a:prstGeom prst="ellipse">
            <a:avLst/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96512" y="31363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919472" y="2194560"/>
            <a:ext cx="3401568" cy="2359152"/>
          </a:xfrm>
          <a:prstGeom prst="roundRect">
            <a:avLst>
              <a:gd name="adj" fmla="val 2713"/>
            </a:avLst>
          </a:prstGeom>
          <a:solidFill>
            <a:srgbClr val="F2EEFF"/>
          </a:solidFill>
          <a:ln w="12700">
            <a:solidFill>
              <a:srgbClr val="C6B9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93792" y="2496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443F5"/>
                </a:solidFill>
              </a:rPr>
              <a:t>LOOMAI BRINGS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193792" y="2761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B4D"/>
                </a:solidFill>
              </a:rPr>
              <a:t>Governed AI enablement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212080" y="3191256"/>
            <a:ext cx="276148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Dealer-isolated deployments and lifecycle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Grounded reasoning across stock and policy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Governed actions, confirmations and receipts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Reusable templates, plugins and UI surfaces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485632" y="2194560"/>
            <a:ext cx="3145536" cy="2359152"/>
          </a:xfrm>
          <a:prstGeom prst="roundRect">
            <a:avLst>
              <a:gd name="adj" fmla="val 2713"/>
            </a:avLst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59952" y="249631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EE8FF"/>
                </a:solidFill>
              </a:rPr>
              <a:t>JOINT OUTCOME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759952" y="27614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Better-qualified buyers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778240" y="3191256"/>
            <a:ext cx="24231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950" dirty="0">
                <a:solidFill>
                  <a:srgbClr val="E2EBFC"/>
                </a:solidFill>
              </a:rPr>
              <a:t>Relevant dealer-only shortlists</a:t>
            </a:r>
            <a:endParaRPr lang="en-US" sz="950" dirty="0"/>
          </a:p>
          <a:p>
            <a:pPr marL="165100" indent="-165100">
              <a:buSzPct val="100000"/>
              <a:buChar char="•"/>
            </a:pPr>
            <a:r>
              <a:rPr lang="en-US" sz="950" dirty="0">
                <a:solidFill>
                  <a:srgbClr val="E2EBFC"/>
                </a:solidFill>
              </a:rPr>
              <a:t>Fewer stale or unsupported answers</a:t>
            </a:r>
            <a:endParaRPr lang="en-US" sz="950" dirty="0"/>
          </a:p>
          <a:p>
            <a:pPr marL="165100" indent="-165100">
              <a:buSzPct val="100000"/>
              <a:buChar char="•"/>
            </a:pPr>
            <a:r>
              <a:rPr lang="en-US" sz="950" dirty="0">
                <a:solidFill>
                  <a:srgbClr val="E2EBFC"/>
                </a:solidFill>
              </a:rPr>
              <a:t>Consented context into the next journey</a:t>
            </a:r>
            <a:endParaRPr lang="en-US" sz="950" dirty="0"/>
          </a:p>
          <a:p>
            <a:pPr marL="165100" indent="-165100">
              <a:buSzPct val="100000"/>
              <a:buChar char="•"/>
            </a:pPr>
            <a:r>
              <a:rPr lang="en-US" sz="950" dirty="0">
                <a:solidFill>
                  <a:srgbClr val="E2EBFC"/>
                </a:solidFill>
              </a:rPr>
              <a:t>Measurable conversion and trust evidence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8640" y="488289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265F3"/>
                </a:solidFill>
              </a:rPr>
              <a:t>FLEXIBILITY WITHOUT ONE-OFF BUILDS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30352" y="521208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" y="52806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65F3"/>
                </a:solidFill>
              </a:rPr>
              <a:t>One reusable dealership template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52344" y="521208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825496" y="52806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443F5"/>
                </a:solidFill>
              </a:rPr>
              <a:t>Plugins compile only granted capabilities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974336" y="521208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47488" y="52806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65F3"/>
                </a:solidFill>
              </a:rPr>
              <a:t>Approved model, vector and storage choices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196328" y="521208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69480" y="52806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443F5"/>
                </a:solidFill>
              </a:rPr>
              <a:t>Embed script or native host integration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18320" y="521208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491472" y="52806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65F3"/>
                </a:solidFill>
              </a:rPr>
              <a:t>Deployment-local traffic and secrets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30352" y="5715000"/>
            <a:ext cx="11100816" cy="402336"/>
          </a:xfrm>
          <a:prstGeom prst="roundRect">
            <a:avLst>
              <a:gd name="adj" fmla="val 9091"/>
            </a:avLst>
          </a:prstGeom>
          <a:solidFill>
            <a:srgbClr val="FFF4DD"/>
          </a:solidFill>
          <a:ln w="10160">
            <a:solidFill>
              <a:srgbClr val="F2D49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8096" y="5843016"/>
            <a:ext cx="10652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6A00"/>
                </a:solidFill>
              </a:rPr>
              <a:t>Not proposing: a new marketplace, a data-resale layer, a replacement for Deal Builder, or another generic chatbot.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657600" y="6592824"/>
            <a:ext cx="7223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667797"/>
                </a:solidFill>
              </a:rPr>
              <a:t>Sources: autotrader.co.uk/partners/retailer/platform/autotrader-connect | help.autotrader.co.uk Dealer Websites</a:t>
            </a:r>
            <a:endParaRPr lang="en-US" sz="6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oudashraf/Downloads/Projects/TheBaseRepo/Platfrom/loomai-site/public/assets/reference/lo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"/>
            <a:ext cx="1609344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3108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126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PROPOSAL AND PARTNERSHIP ASK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84048" y="66019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667797"/>
                </a:solidFill>
              </a:rPr>
              <a:t>CONFIDENTIAL PARTNERSHIP DISCUSSION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1292840" y="65836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97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BCE7"/>
                </a:solidFill>
              </a:rPr>
              <a:t>START WITH ONE BOUNDED, MEASURABLE PILOT.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read-first Connect pilot can prove usefulness, freshness, isolation and conversion value before any broader rollout.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30352" y="2167128"/>
            <a:ext cx="3657600" cy="3072384"/>
          </a:xfrm>
          <a:prstGeom prst="roundRect">
            <a:avLst>
              <a:gd name="adj" fmla="val 2083"/>
            </a:avLst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48716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EE8FF"/>
                </a:solidFill>
              </a:rPr>
              <a:t>PILOT SCOPE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2761488"/>
            <a:ext cx="3063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One dealer. One advertiser. One isolated deployment.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41248" y="3813048"/>
            <a:ext cx="2907792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880" dirty="0">
                <a:solidFill>
                  <a:srgbClr val="E2EBFC"/>
                </a:solidFill>
              </a:rPr>
              <a:t>Read-first stock discovery and comparison</a:t>
            </a:r>
            <a:endParaRPr lang="en-US" sz="880" dirty="0"/>
          </a:p>
          <a:p>
            <a:pPr marL="165100" indent="-165100">
              <a:buSzPct val="100000"/>
              <a:buChar char="•"/>
            </a:pPr>
            <a:r>
              <a:rPr lang="en-US" sz="880" dirty="0">
                <a:solidFill>
                  <a:srgbClr val="E2EBFC"/>
                </a:solidFill>
              </a:rPr>
              <a:t>Dealer-owned policy knowledge</a:t>
            </a:r>
            <a:endParaRPr lang="en-US" sz="880" dirty="0"/>
          </a:p>
          <a:p>
            <a:pPr marL="165100" indent="-165100">
              <a:buSzPct val="100000"/>
              <a:buChar char="•"/>
            </a:pPr>
            <a:r>
              <a:rPr lang="en-US" sz="880" dirty="0">
                <a:solidFill>
                  <a:srgbClr val="E2EBFC"/>
                </a:solidFill>
              </a:rPr>
              <a:t>Live validation of selected facts</a:t>
            </a:r>
            <a:endParaRPr lang="en-US" sz="880" dirty="0"/>
          </a:p>
          <a:p>
            <a:pPr marL="165100" indent="-165100">
              <a:buSzPct val="100000"/>
              <a:buChar char="•"/>
            </a:pPr>
            <a:r>
              <a:rPr lang="en-US" sz="880" dirty="0">
                <a:solidFill>
                  <a:srgbClr val="E2EBFC"/>
                </a:solidFill>
              </a:rPr>
              <a:t>One confirmed callback, test-drive or agreed handoff</a:t>
            </a:r>
            <a:endParaRPr lang="en-US" sz="880" dirty="0"/>
          </a:p>
          <a:p>
            <a:pPr marL="165100" indent="-165100">
              <a:buSzPct val="100000"/>
              <a:buChar char="•"/>
            </a:pPr>
            <a:r>
              <a:rPr lang="en-US" sz="880" dirty="0">
                <a:solidFill>
                  <a:srgbClr val="E2EBFC"/>
                </a:solidFill>
              </a:rPr>
              <a:t>No provider write unless explicitly granted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4407408" y="2167128"/>
            <a:ext cx="4297680" cy="3072384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0016" y="248716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7443F5"/>
                </a:solidFill>
              </a:rPr>
              <a:t>WHAT WE NEED FROM AUTOTRADER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00016" y="2798064"/>
            <a:ext cx="3639312" cy="2084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Named product sponsor and Connect Integration Manager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Sandbox credentials, capability grants, test advertiser and representative stock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Written rights for retention, embeddings, inference, display and attribution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Notification registration, retries and test-event path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Preferred Deal Builder, enquiry, CRM or appointment handoff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Go-live checklist and one candidate design-partner dealer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942832" y="2167128"/>
            <a:ext cx="2688336" cy="3072384"/>
          </a:xfrm>
          <a:prstGeom prst="roundRect">
            <a:avLst>
              <a:gd name="adj" fmla="val 2381"/>
            </a:avLst>
          </a:prstGeom>
          <a:solidFill>
            <a:srgbClr val="E9F8F1"/>
          </a:solidFill>
          <a:ln w="11430">
            <a:solidFill>
              <a:srgbClr val="A5DF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98864" y="248716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0F9F74"/>
                </a:solidFill>
              </a:rPr>
              <a:t>SUCCESS GATES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189720" y="2807208"/>
            <a:ext cx="2048256" cy="1664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Useful-result rate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Shortlist and comparison completion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Fact-support and freshness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Qualified handoff rate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Zero cross-dealer access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Deletion and rollback proof</a:t>
            </a:r>
            <a:endParaRPr lang="en-US" sz="94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315968"/>
            <a:ext cx="621792" cy="62179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0" y="4983480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9F74"/>
                </a:solidFill>
              </a:rPr>
              <a:t>Open live demo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530352" y="5504688"/>
            <a:ext cx="11100816" cy="658368"/>
          </a:xfrm>
          <a:prstGeom prst="roundRect">
            <a:avLst>
              <a:gd name="adj" fmla="val 8333"/>
            </a:avLst>
          </a:prstGeom>
          <a:solidFill>
            <a:srgbClr val="EEF4FF"/>
          </a:solidFill>
          <a:ln w="12700">
            <a:solidFill>
              <a:srgbClr val="9DBBF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4672" y="5742432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10" kern="0" dirty="0">
                <a:solidFill>
                  <a:srgbClr val="1265F3"/>
                </a:solidFill>
              </a:rPr>
              <a:t>THE ASK</a:t>
            </a:r>
            <a:endParaRPr lang="en-US" sz="820" dirty="0"/>
          </a:p>
        </p:txBody>
      </p:sp>
      <p:sp>
        <p:nvSpPr>
          <p:cNvPr id="22" name="Text 18"/>
          <p:cNvSpPr/>
          <p:nvPr/>
        </p:nvSpPr>
        <p:spPr>
          <a:xfrm>
            <a:off x="1554480" y="5678424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Approve an architecture and data-rights workshop, then define a one-dealer Autotrader Connect pilot.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657600" y="6592824"/>
            <a:ext cx="7223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667797"/>
                </a:solidFill>
              </a:rPr>
              <a:t>Discussion basis: Autotrader Connect official product, partner and advertiser guidance reviewed 5 Oct 2026.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Loom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LoomAI Platform for Autotrader Connect</dc:title>
  <dc:subject>Autotrader partnership discussion</dc:subject>
  <dc:creator>Loom AI Labs</dc:creator>
  <cp:lastModifiedBy>Loom AI Labs</cp:lastModifiedBy>
  <cp:revision>1</cp:revision>
  <dcterms:created xsi:type="dcterms:W3CDTF">2026-10-06T14:47:03Z</dcterms:created>
  <dcterms:modified xsi:type="dcterms:W3CDTF">2026-10-06T14:47:03Z</dcterms:modified>
</cp:coreProperties>
</file>