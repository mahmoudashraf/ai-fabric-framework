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Lead with the product boundary: LoomAI is the governed AI deployment layer, not a replacement marketplace or stock system. The numbers are live Platform records; the provider data is synthetic demonstration data.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Demo the docked composer first, then Max Mode. Emphasise that chat is only the surface: the differentiated value is dealer-scoped discovery, explicit evidence and a structured handoff. Do not imply the visible inventory is live Autotrader data.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key phrase is: index for discovery, re-read for decisions. A full baseline is the recovery path; targeted event reconciliation keeps an individual stock record current. Dealer policies remain a separately attributed knowledge source.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Position LoomAI as complementary. Autotrader owns trusted data, automotive products and the retailer relationship. LoomAI makes those approved assets usable inside a governed AI journey on dealer-owned surfaces.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on a decision, not a generic follow-up. Ask for the sponsor, integration manager, sandbox/grants, written data rights, the preferred handoff path and one design-partner dealer. The next working session should be architecture plus data rights.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OOMAI">
    <p:bg>
      <p:bgPr>
        <a:solidFill>
          <a:srgbClr val="F7F9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565392"/>
            <a:ext cx="12191695" cy="0"/>
          </a:xfrm>
          <a:prstGeom prst="line">
            <a:avLst/>
          </a:prstGeom>
          <a:noFill/>
          <a:ln w="7620">
            <a:solidFill>
              <a:srgbClr val="DCE5F6"/>
            </a:solidFill>
            <a:prstDash val="solid"/>
          </a:ln>
        </p:spPr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mahmoudashraf/Downloads/Projects/TheBaseRepo/Platfrom/loomai-site/public/assets/reference/loom-word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4048" y="219456"/>
            <a:ext cx="1609344" cy="39319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321040" y="310896"/>
            <a:ext cx="3246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spc="130" kern="0" dirty="0">
                <a:solidFill>
                  <a:srgbClr val="1265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LOOMAI PLATFORM X AUTOTRADER CONNECT</a:t>
            </a:r>
            <a:endParaRPr lang="en-US" sz="800" dirty="0"/>
          </a:p>
        </p:txBody>
      </p:sp>
      <p:sp>
        <p:nvSpPr>
          <p:cNvPr id="4" name="Text 1"/>
          <p:cNvSpPr/>
          <p:nvPr/>
        </p:nvSpPr>
        <p:spPr>
          <a:xfrm>
            <a:off x="384048" y="6601968"/>
            <a:ext cx="274320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80" kern="0" dirty="0">
                <a:solidFill>
                  <a:srgbClr val="667797"/>
                </a:solidFill>
              </a:rPr>
              <a:t>CONFIDENTIAL PARTNERSHIP DISCUSSION</a:t>
            </a:r>
            <a:endParaRPr lang="en-US" sz="700" dirty="0"/>
          </a:p>
        </p:txBody>
      </p:sp>
      <p:sp>
        <p:nvSpPr>
          <p:cNvPr id="5" name="Text 2"/>
          <p:cNvSpPr/>
          <p:nvPr/>
        </p:nvSpPr>
        <p:spPr>
          <a:xfrm>
            <a:off x="11292840" y="6583680"/>
            <a:ext cx="4114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67797"/>
                </a:solidFill>
              </a:rPr>
              <a:t>01</a:t>
            </a:r>
            <a:endParaRPr lang="en-US" sz="800" dirty="0"/>
          </a:p>
        </p:txBody>
      </p:sp>
      <p:sp>
        <p:nvSpPr>
          <p:cNvPr id="6" name="Text 3"/>
          <p:cNvSpPr/>
          <p:nvPr/>
        </p:nvSpPr>
        <p:spPr>
          <a:xfrm>
            <a:off x="502920" y="786384"/>
            <a:ext cx="5120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05BCE7"/>
                </a:solidFill>
              </a:rPr>
              <a:t>THE PROPOSITION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502920" y="1005840"/>
            <a:ext cx="10972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071B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Turn trusted automotive data into a governed buying experience.</a:t>
            </a:r>
            <a:endParaRPr lang="en-US" sz="2800" dirty="0"/>
          </a:p>
        </p:txBody>
      </p:sp>
      <p:sp>
        <p:nvSpPr>
          <p:cNvPr id="8" name="Text 5"/>
          <p:cNvSpPr/>
          <p:nvPr/>
        </p:nvSpPr>
        <p:spPr>
          <a:xfrm>
            <a:off x="521208" y="1627632"/>
            <a:ext cx="10698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30466E"/>
                </a:solidFill>
              </a:rPr>
              <a:t>LoomAI composes, deploys and operates the AI layer between authorised data and each dealer's customer experience.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530352" y="2331720"/>
            <a:ext cx="2487168" cy="1307592"/>
          </a:xfrm>
          <a:prstGeom prst="roundRect">
            <a:avLst>
              <a:gd name="adj" fmla="val 5594"/>
            </a:avLst>
          </a:prstGeom>
          <a:solidFill>
            <a:srgbClr val="EAFBFE"/>
          </a:solidFill>
          <a:ln w="11430">
            <a:solidFill>
              <a:srgbClr val="C9D7EF"/>
            </a:solidFill>
            <a:prstDash val="solid"/>
          </a:ln>
          <a:effectLst>
            <a:outerShdw sx="100000" sy="100000" kx="0" ky="0" algn="bl" rotWithShape="0" blurRad="15240" dist="50800" dir="2700000">
              <a:srgbClr val="A9B9D4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530352" y="2331720"/>
            <a:ext cx="54864" cy="1307592"/>
          </a:xfrm>
          <a:prstGeom prst="rect">
            <a:avLst/>
          </a:prstGeom>
          <a:solidFill>
            <a:srgbClr val="05BCE7"/>
          </a:solidFill>
          <a:ln w="12700">
            <a:solidFill>
              <a:srgbClr val="05BCE7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694944" y="2496312"/>
            <a:ext cx="347472" cy="347472"/>
          </a:xfrm>
          <a:prstGeom prst="ellipse">
            <a:avLst/>
          </a:prstGeom>
          <a:solidFill>
            <a:srgbClr val="05BCE7"/>
          </a:solidFill>
          <a:ln w="12700">
            <a:solidFill>
              <a:srgbClr val="05BCE7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94944" y="2592324"/>
            <a:ext cx="34747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1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1152144" y="2505456"/>
            <a:ext cx="170078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b="1" dirty="0">
                <a:solidFill>
                  <a:srgbClr val="102448"/>
                </a:solidFill>
              </a:rPr>
              <a:t>Autotrader</a:t>
            </a:r>
            <a:endParaRPr lang="en-US" sz="1220" dirty="0"/>
          </a:p>
        </p:txBody>
      </p:sp>
      <p:sp>
        <p:nvSpPr>
          <p:cNvPr id="14" name="Text 11"/>
          <p:cNvSpPr/>
          <p:nvPr/>
        </p:nvSpPr>
        <p:spPr>
          <a:xfrm>
            <a:off x="1152144" y="2816352"/>
            <a:ext cx="170078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30466E"/>
                </a:solidFill>
              </a:rPr>
              <a:t>Authorised stock, vehicle data, advertiser scope and conversion products</a:t>
            </a:r>
            <a:endParaRPr lang="en-US" sz="920" dirty="0"/>
          </a:p>
        </p:txBody>
      </p:sp>
      <p:sp>
        <p:nvSpPr>
          <p:cNvPr id="15" name="Shape 12"/>
          <p:cNvSpPr/>
          <p:nvPr/>
        </p:nvSpPr>
        <p:spPr>
          <a:xfrm>
            <a:off x="3108960" y="2816352"/>
            <a:ext cx="228600" cy="310896"/>
          </a:xfrm>
          <a:prstGeom prst="chevron">
            <a:avLst/>
          </a:prstGeom>
          <a:solidFill>
            <a:srgbClr val="1265F3"/>
          </a:solidFill>
          <a:ln w="12700">
            <a:solidFill>
              <a:srgbClr val="1265F3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3401568" y="2331720"/>
            <a:ext cx="2487168" cy="1307592"/>
          </a:xfrm>
          <a:prstGeom prst="roundRect">
            <a:avLst>
              <a:gd name="adj" fmla="val 5594"/>
            </a:avLst>
          </a:prstGeom>
          <a:solidFill>
            <a:srgbClr val="F2EEFF"/>
          </a:solidFill>
          <a:ln w="11430">
            <a:solidFill>
              <a:srgbClr val="C9D7EF"/>
            </a:solidFill>
            <a:prstDash val="solid"/>
          </a:ln>
          <a:effectLst>
            <a:outerShdw sx="100000" sy="100000" kx="0" ky="0" algn="bl" rotWithShape="0" blurRad="15240" dist="50800" dir="2700000">
              <a:srgbClr val="A9B9D4">
                <a:alpha val="12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3401568" y="2331720"/>
            <a:ext cx="54864" cy="1307592"/>
          </a:xfrm>
          <a:prstGeom prst="rect">
            <a:avLst/>
          </a:prstGeom>
          <a:solidFill>
            <a:srgbClr val="7443F5"/>
          </a:solidFill>
          <a:ln w="12700">
            <a:solidFill>
              <a:srgbClr val="7443F5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3566160" y="2496312"/>
            <a:ext cx="347472" cy="347472"/>
          </a:xfrm>
          <a:prstGeom prst="ellipse">
            <a:avLst/>
          </a:prstGeom>
          <a:solidFill>
            <a:srgbClr val="7443F5"/>
          </a:solidFill>
          <a:ln w="12700">
            <a:solidFill>
              <a:srgbClr val="7443F5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3566160" y="2592324"/>
            <a:ext cx="34747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2</a:t>
            </a: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4023360" y="2505456"/>
            <a:ext cx="170078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b="1" dirty="0">
                <a:solidFill>
                  <a:srgbClr val="102448"/>
                </a:solidFill>
              </a:rPr>
              <a:t>LoomAI Platform</a:t>
            </a:r>
            <a:endParaRPr lang="en-US" sz="1220" dirty="0"/>
          </a:p>
        </p:txBody>
      </p:sp>
      <p:sp>
        <p:nvSpPr>
          <p:cNvPr id="21" name="Text 18"/>
          <p:cNvSpPr/>
          <p:nvPr/>
        </p:nvSpPr>
        <p:spPr>
          <a:xfrm>
            <a:off x="4023360" y="2816352"/>
            <a:ext cx="170078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30466E"/>
                </a:solidFill>
              </a:rPr>
              <a:t>Templates, plugins, provider bindings, release gates and observability</a:t>
            </a:r>
            <a:endParaRPr lang="en-US" sz="920" dirty="0"/>
          </a:p>
        </p:txBody>
      </p:sp>
      <p:sp>
        <p:nvSpPr>
          <p:cNvPr id="22" name="Shape 19"/>
          <p:cNvSpPr/>
          <p:nvPr/>
        </p:nvSpPr>
        <p:spPr>
          <a:xfrm>
            <a:off x="5980176" y="2816352"/>
            <a:ext cx="228600" cy="310896"/>
          </a:xfrm>
          <a:prstGeom prst="chevron">
            <a:avLst/>
          </a:prstGeom>
          <a:solidFill>
            <a:srgbClr val="1265F3"/>
          </a:solidFill>
          <a:ln w="12700">
            <a:solidFill>
              <a:srgbClr val="1265F3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6272784" y="2331720"/>
            <a:ext cx="2487168" cy="1307592"/>
          </a:xfrm>
          <a:prstGeom prst="roundRect">
            <a:avLst>
              <a:gd name="adj" fmla="val 5594"/>
            </a:avLst>
          </a:prstGeom>
          <a:solidFill>
            <a:srgbClr val="EEF4FF"/>
          </a:solidFill>
          <a:ln w="11430">
            <a:solidFill>
              <a:srgbClr val="C9D7EF"/>
            </a:solidFill>
            <a:prstDash val="solid"/>
          </a:ln>
          <a:effectLst>
            <a:outerShdw sx="100000" sy="100000" kx="0" ky="0" algn="bl" rotWithShape="0" blurRad="15240" dist="50800" dir="2700000">
              <a:srgbClr val="A9B9D4">
                <a:alpha val="12000"/>
              </a:srgbClr>
            </a:outerShdw>
          </a:effectLst>
        </p:spPr>
      </p:sp>
      <p:sp>
        <p:nvSpPr>
          <p:cNvPr id="24" name="Shape 21"/>
          <p:cNvSpPr/>
          <p:nvPr/>
        </p:nvSpPr>
        <p:spPr>
          <a:xfrm>
            <a:off x="6272784" y="2331720"/>
            <a:ext cx="54864" cy="1307592"/>
          </a:xfrm>
          <a:prstGeom prst="rect">
            <a:avLst/>
          </a:prstGeom>
          <a:solidFill>
            <a:srgbClr val="1265F3"/>
          </a:solidFill>
          <a:ln w="12700">
            <a:solidFill>
              <a:srgbClr val="1265F3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6437376" y="2496312"/>
            <a:ext cx="347472" cy="347472"/>
          </a:xfrm>
          <a:prstGeom prst="ellipse">
            <a:avLst/>
          </a:prstGeom>
          <a:solidFill>
            <a:srgbClr val="1265F3"/>
          </a:solidFill>
          <a:ln w="12700">
            <a:solidFill>
              <a:srgbClr val="1265F3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6437376" y="2592324"/>
            <a:ext cx="34747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3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6894576" y="2505456"/>
            <a:ext cx="170078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b="1" dirty="0">
                <a:solidFill>
                  <a:srgbClr val="102448"/>
                </a:solidFill>
              </a:rPr>
              <a:t>Dealer deployment</a:t>
            </a:r>
            <a:endParaRPr lang="en-US" sz="1220" dirty="0"/>
          </a:p>
        </p:txBody>
      </p:sp>
      <p:sp>
        <p:nvSpPr>
          <p:cNvPr id="28" name="Text 25"/>
          <p:cNvSpPr/>
          <p:nvPr/>
        </p:nvSpPr>
        <p:spPr>
          <a:xfrm>
            <a:off x="6894576" y="2816352"/>
            <a:ext cx="170078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30466E"/>
                </a:solidFill>
              </a:rPr>
              <a:t>Isolated sync, index, reasoning, governed actions and receipts</a:t>
            </a:r>
            <a:endParaRPr lang="en-US" sz="920" dirty="0"/>
          </a:p>
        </p:txBody>
      </p:sp>
      <p:sp>
        <p:nvSpPr>
          <p:cNvPr id="29" name="Shape 26"/>
          <p:cNvSpPr/>
          <p:nvPr/>
        </p:nvSpPr>
        <p:spPr>
          <a:xfrm>
            <a:off x="8851392" y="2816352"/>
            <a:ext cx="228600" cy="310896"/>
          </a:xfrm>
          <a:prstGeom prst="chevron">
            <a:avLst/>
          </a:prstGeom>
          <a:solidFill>
            <a:srgbClr val="1265F3"/>
          </a:solidFill>
          <a:ln w="12700">
            <a:solidFill>
              <a:srgbClr val="1265F3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9144000" y="2331720"/>
            <a:ext cx="2487168" cy="1307592"/>
          </a:xfrm>
          <a:prstGeom prst="roundRect">
            <a:avLst>
              <a:gd name="adj" fmla="val 5594"/>
            </a:avLst>
          </a:prstGeom>
          <a:solidFill>
            <a:srgbClr val="E9F8F1"/>
          </a:solidFill>
          <a:ln w="11430">
            <a:solidFill>
              <a:srgbClr val="C9D7EF"/>
            </a:solidFill>
            <a:prstDash val="solid"/>
          </a:ln>
          <a:effectLst>
            <a:outerShdw sx="100000" sy="100000" kx="0" ky="0" algn="bl" rotWithShape="0" blurRad="15240" dist="50800" dir="2700000">
              <a:srgbClr val="A9B9D4">
                <a:alpha val="12000"/>
              </a:srgbClr>
            </a:outerShdw>
          </a:effectLst>
        </p:spPr>
      </p:sp>
      <p:sp>
        <p:nvSpPr>
          <p:cNvPr id="31" name="Shape 28"/>
          <p:cNvSpPr/>
          <p:nvPr/>
        </p:nvSpPr>
        <p:spPr>
          <a:xfrm>
            <a:off x="9144000" y="2331720"/>
            <a:ext cx="54864" cy="1307592"/>
          </a:xfrm>
          <a:prstGeom prst="rect">
            <a:avLst/>
          </a:prstGeom>
          <a:solidFill>
            <a:srgbClr val="0F9F74"/>
          </a:solidFill>
          <a:ln w="12700">
            <a:solidFill>
              <a:srgbClr val="0F9F74"/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9308592" y="2496312"/>
            <a:ext cx="347472" cy="347472"/>
          </a:xfrm>
          <a:prstGeom prst="ellipse">
            <a:avLst/>
          </a:prstGeom>
          <a:solidFill>
            <a:srgbClr val="0F9F74"/>
          </a:solidFill>
          <a:ln w="12700">
            <a:solidFill>
              <a:srgbClr val="0F9F74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9308592" y="2592324"/>
            <a:ext cx="34747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4</a:t>
            </a:r>
            <a:endParaRPr lang="en-US" sz="900" dirty="0"/>
          </a:p>
        </p:txBody>
      </p:sp>
      <p:sp>
        <p:nvSpPr>
          <p:cNvPr id="34" name="Text 31"/>
          <p:cNvSpPr/>
          <p:nvPr/>
        </p:nvSpPr>
        <p:spPr>
          <a:xfrm>
            <a:off x="9765792" y="2505456"/>
            <a:ext cx="170078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b="1" dirty="0">
                <a:solidFill>
                  <a:srgbClr val="102448"/>
                </a:solidFill>
              </a:rPr>
              <a:t>Dealer website</a:t>
            </a:r>
            <a:endParaRPr lang="en-US" sz="1220" dirty="0"/>
          </a:p>
        </p:txBody>
      </p:sp>
      <p:sp>
        <p:nvSpPr>
          <p:cNvPr id="35" name="Text 32"/>
          <p:cNvSpPr/>
          <p:nvPr/>
        </p:nvSpPr>
        <p:spPr>
          <a:xfrm>
            <a:off x="9765792" y="2816352"/>
            <a:ext cx="170078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30466E"/>
                </a:solidFill>
              </a:rPr>
              <a:t>Docked chat plus full Max workspace, embedded into the existing site</a:t>
            </a:r>
            <a:endParaRPr lang="en-US" sz="920" dirty="0"/>
          </a:p>
        </p:txBody>
      </p:sp>
      <p:sp>
        <p:nvSpPr>
          <p:cNvPr id="36" name="Shape 33"/>
          <p:cNvSpPr/>
          <p:nvPr/>
        </p:nvSpPr>
        <p:spPr>
          <a:xfrm>
            <a:off x="530352" y="3977640"/>
            <a:ext cx="11100816" cy="1600200"/>
          </a:xfrm>
          <a:prstGeom prst="roundRect">
            <a:avLst>
              <a:gd name="adj" fmla="val 4571"/>
            </a:avLst>
          </a:prstGeom>
          <a:solidFill>
            <a:srgbClr val="071B4D"/>
          </a:solidFill>
          <a:ln w="12700">
            <a:solidFill>
              <a:srgbClr val="071B4D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795528" y="4261104"/>
            <a:ext cx="2011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30" kern="0" dirty="0">
                <a:solidFill>
                  <a:srgbClr val="7EE8FF"/>
                </a:solidFill>
              </a:rPr>
              <a:t>LIVE PLATFORM PROOF</a:t>
            </a:r>
            <a:endParaRPr lang="en-US" sz="800" dirty="0"/>
          </a:p>
        </p:txBody>
      </p:sp>
      <p:sp>
        <p:nvSpPr>
          <p:cNvPr id="38" name="Text 35"/>
          <p:cNvSpPr/>
          <p:nvPr/>
        </p:nvSpPr>
        <p:spPr>
          <a:xfrm>
            <a:off x="795528" y="4480560"/>
            <a:ext cx="3657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</a:rPr>
              <a:t>Northfield Dealership AI Demo</a:t>
            </a:r>
            <a:endParaRPr lang="en-US" sz="1900" dirty="0"/>
          </a:p>
        </p:txBody>
      </p:sp>
      <p:sp>
        <p:nvSpPr>
          <p:cNvPr id="39" name="Text 36"/>
          <p:cNvSpPr/>
          <p:nvPr/>
        </p:nvSpPr>
        <p:spPr>
          <a:xfrm>
            <a:off x="795528" y="4882896"/>
            <a:ext cx="4251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D8E6FF"/>
                </a:solidFill>
              </a:rPr>
              <a:t>One deployment per dealer. Routine traffic stays deployment-local, not behind one shared chat gateway.</a:t>
            </a:r>
            <a:endParaRPr lang="en-US" sz="1050" dirty="0"/>
          </a:p>
        </p:txBody>
      </p:sp>
      <p:sp>
        <p:nvSpPr>
          <p:cNvPr id="40" name="Text 37"/>
          <p:cNvSpPr/>
          <p:nvPr/>
        </p:nvSpPr>
        <p:spPr>
          <a:xfrm>
            <a:off x="5166360" y="4325112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7EE8FF"/>
                </a:solidFill>
              </a:rPr>
              <a:t>3</a:t>
            </a:r>
            <a:endParaRPr lang="en-US" sz="1900" dirty="0"/>
          </a:p>
        </p:txBody>
      </p:sp>
      <p:sp>
        <p:nvSpPr>
          <p:cNvPr id="41" name="Text 38"/>
          <p:cNvSpPr/>
          <p:nvPr/>
        </p:nvSpPr>
        <p:spPr>
          <a:xfrm>
            <a:off x="5166360" y="4745736"/>
            <a:ext cx="1371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10" dirty="0">
                <a:solidFill>
                  <a:srgbClr val="FFFFFF"/>
                </a:solidFill>
              </a:rPr>
              <a:t>versioned packages</a:t>
            </a:r>
            <a:endParaRPr lang="en-US" sz="810" dirty="0"/>
          </a:p>
        </p:txBody>
      </p:sp>
      <p:sp>
        <p:nvSpPr>
          <p:cNvPr id="42" name="Text 39"/>
          <p:cNvSpPr/>
          <p:nvPr/>
        </p:nvSpPr>
        <p:spPr>
          <a:xfrm>
            <a:off x="6748272" y="4325112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7EE8FF"/>
                </a:solidFill>
              </a:rPr>
              <a:t>6 + 6</a:t>
            </a:r>
            <a:endParaRPr lang="en-US" sz="1900" dirty="0"/>
          </a:p>
        </p:txBody>
      </p:sp>
      <p:sp>
        <p:nvSpPr>
          <p:cNvPr id="43" name="Text 40"/>
          <p:cNvSpPr/>
          <p:nvPr/>
        </p:nvSpPr>
        <p:spPr>
          <a:xfrm>
            <a:off x="6748272" y="4745736"/>
            <a:ext cx="1371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10" dirty="0">
                <a:solidFill>
                  <a:srgbClr val="FFFFFF"/>
                </a:solidFill>
              </a:rPr>
              <a:t>stock + policy records</a:t>
            </a:r>
            <a:endParaRPr lang="en-US" sz="810" dirty="0"/>
          </a:p>
        </p:txBody>
      </p:sp>
      <p:sp>
        <p:nvSpPr>
          <p:cNvPr id="44" name="Text 41"/>
          <p:cNvSpPr/>
          <p:nvPr/>
        </p:nvSpPr>
        <p:spPr>
          <a:xfrm>
            <a:off x="8330184" y="4325112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7EE8FF"/>
                </a:solidFill>
              </a:rPr>
              <a:t>5</a:t>
            </a:r>
            <a:endParaRPr lang="en-US" sz="1900" dirty="0"/>
          </a:p>
        </p:txBody>
      </p:sp>
      <p:sp>
        <p:nvSpPr>
          <p:cNvPr id="45" name="Text 42"/>
          <p:cNvSpPr/>
          <p:nvPr/>
        </p:nvSpPr>
        <p:spPr>
          <a:xfrm>
            <a:off x="8330184" y="4745736"/>
            <a:ext cx="1371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10" dirty="0">
                <a:solidFill>
                  <a:srgbClr val="FFFFFF"/>
                </a:solidFill>
              </a:rPr>
              <a:t>governed actions</a:t>
            </a:r>
            <a:endParaRPr lang="en-US" sz="810" dirty="0"/>
          </a:p>
        </p:txBody>
      </p:sp>
      <p:sp>
        <p:nvSpPr>
          <p:cNvPr id="46" name="Text 43"/>
          <p:cNvSpPr/>
          <p:nvPr/>
        </p:nvSpPr>
        <p:spPr>
          <a:xfrm>
            <a:off x="9912096" y="4325112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7EE8FF"/>
                </a:solidFill>
              </a:rPr>
              <a:t>26 / 0</a:t>
            </a:r>
            <a:endParaRPr lang="en-US" sz="1900" dirty="0"/>
          </a:p>
        </p:txBody>
      </p:sp>
      <p:sp>
        <p:nvSpPr>
          <p:cNvPr id="47" name="Text 44"/>
          <p:cNvSpPr/>
          <p:nvPr/>
        </p:nvSpPr>
        <p:spPr>
          <a:xfrm>
            <a:off x="9912096" y="4745736"/>
            <a:ext cx="1371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10" dirty="0">
                <a:solidFill>
                  <a:srgbClr val="FFFFFF"/>
                </a:solidFill>
              </a:rPr>
              <a:t>checks passed / failed</a:t>
            </a:r>
            <a:endParaRPr lang="en-US" sz="810" dirty="0"/>
          </a:p>
        </p:txBody>
      </p:sp>
      <p:sp>
        <p:nvSpPr>
          <p:cNvPr id="48" name="Shape 45"/>
          <p:cNvSpPr/>
          <p:nvPr/>
        </p:nvSpPr>
        <p:spPr>
          <a:xfrm>
            <a:off x="530352" y="5806440"/>
            <a:ext cx="1417320" cy="292608"/>
          </a:xfrm>
          <a:prstGeom prst="roundRect">
            <a:avLst>
              <a:gd name="adj" fmla="val 18750"/>
            </a:avLst>
          </a:prstGeom>
          <a:solidFill>
            <a:srgbClr val="EEF4FF"/>
          </a:solidFill>
          <a:ln w="12700">
            <a:solidFill>
              <a:srgbClr val="EEF4FF"/>
            </a:solidFill>
            <a:prstDash val="solid"/>
          </a:ln>
        </p:spPr>
      </p:sp>
      <p:sp>
        <p:nvSpPr>
          <p:cNvPr id="49" name="Text 46"/>
          <p:cNvSpPr/>
          <p:nvPr/>
        </p:nvSpPr>
        <p:spPr>
          <a:xfrm>
            <a:off x="603504" y="5875020"/>
            <a:ext cx="127101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265F3"/>
                </a:solidFill>
              </a:rPr>
              <a:t>AI Fabric 0.8.11</a:t>
            </a:r>
            <a:endParaRPr lang="en-US" sz="800" dirty="0"/>
          </a:p>
        </p:txBody>
      </p:sp>
      <p:sp>
        <p:nvSpPr>
          <p:cNvPr id="50" name="Shape 47"/>
          <p:cNvSpPr/>
          <p:nvPr/>
        </p:nvSpPr>
        <p:spPr>
          <a:xfrm>
            <a:off x="2057400" y="5806440"/>
            <a:ext cx="1417320" cy="292608"/>
          </a:xfrm>
          <a:prstGeom prst="roundRect">
            <a:avLst>
              <a:gd name="adj" fmla="val 18750"/>
            </a:avLst>
          </a:prstGeom>
          <a:solidFill>
            <a:srgbClr val="F2EEFF"/>
          </a:solidFill>
          <a:ln w="12700">
            <a:solidFill>
              <a:srgbClr val="F2EEFF"/>
            </a:solidFill>
            <a:prstDash val="solid"/>
          </a:ln>
        </p:spPr>
      </p:sp>
      <p:sp>
        <p:nvSpPr>
          <p:cNvPr id="51" name="Text 48"/>
          <p:cNvSpPr/>
          <p:nvPr/>
        </p:nvSpPr>
        <p:spPr>
          <a:xfrm>
            <a:off x="2130552" y="5875020"/>
            <a:ext cx="127101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7443F5"/>
                </a:solidFill>
              </a:rPr>
              <a:t>Deployment-local</a:t>
            </a:r>
            <a:endParaRPr lang="en-US" sz="800" dirty="0"/>
          </a:p>
        </p:txBody>
      </p:sp>
      <p:sp>
        <p:nvSpPr>
          <p:cNvPr id="52" name="Shape 49"/>
          <p:cNvSpPr/>
          <p:nvPr/>
        </p:nvSpPr>
        <p:spPr>
          <a:xfrm>
            <a:off x="3584448" y="5806440"/>
            <a:ext cx="1417320" cy="292608"/>
          </a:xfrm>
          <a:prstGeom prst="roundRect">
            <a:avLst>
              <a:gd name="adj" fmla="val 18750"/>
            </a:avLst>
          </a:prstGeom>
          <a:solidFill>
            <a:srgbClr val="EAFBFE"/>
          </a:solidFill>
          <a:ln w="12700">
            <a:solidFill>
              <a:srgbClr val="EAFBFE"/>
            </a:solidFill>
            <a:prstDash val="solid"/>
          </a:ln>
        </p:spPr>
      </p:sp>
      <p:sp>
        <p:nvSpPr>
          <p:cNvPr id="53" name="Text 50"/>
          <p:cNvSpPr/>
          <p:nvPr/>
        </p:nvSpPr>
        <p:spPr>
          <a:xfrm>
            <a:off x="3657600" y="5875020"/>
            <a:ext cx="127101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5BCE7"/>
                </a:solidFill>
              </a:rPr>
              <a:t>Provider-neutral</a:t>
            </a:r>
            <a:endParaRPr lang="en-US" sz="800" dirty="0"/>
          </a:p>
        </p:txBody>
      </p:sp>
      <p:sp>
        <p:nvSpPr>
          <p:cNvPr id="54" name="Shape 51"/>
          <p:cNvSpPr/>
          <p:nvPr/>
        </p:nvSpPr>
        <p:spPr>
          <a:xfrm>
            <a:off x="5111496" y="5806440"/>
            <a:ext cx="1965960" cy="292608"/>
          </a:xfrm>
          <a:prstGeom prst="roundRect">
            <a:avLst>
              <a:gd name="adj" fmla="val 18750"/>
            </a:avLst>
          </a:prstGeom>
          <a:solidFill>
            <a:srgbClr val="E9F8F1"/>
          </a:solidFill>
          <a:ln w="12700">
            <a:solidFill>
              <a:srgbClr val="E9F8F1"/>
            </a:solidFill>
            <a:prstDash val="solid"/>
          </a:ln>
        </p:spPr>
      </p:sp>
      <p:sp>
        <p:nvSpPr>
          <p:cNvPr id="55" name="Text 52"/>
          <p:cNvSpPr/>
          <p:nvPr/>
        </p:nvSpPr>
        <p:spPr>
          <a:xfrm>
            <a:off x="5184648" y="5875020"/>
            <a:ext cx="181965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F9F74"/>
                </a:solidFill>
              </a:rPr>
              <a:t>Customer-owned authority</a:t>
            </a:r>
            <a:endParaRPr lang="en-US" sz="800" dirty="0"/>
          </a:p>
        </p:txBody>
      </p:sp>
      <p:sp>
        <p:nvSpPr>
          <p:cNvPr id="56" name="Text 53"/>
          <p:cNvSpPr/>
          <p:nvPr/>
        </p:nvSpPr>
        <p:spPr>
          <a:xfrm>
            <a:off x="7315200" y="5870448"/>
            <a:ext cx="42793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60" i="1" dirty="0">
                <a:solidFill>
                  <a:srgbClr val="667797"/>
                </a:solidFill>
              </a:rPr>
              <a:t>Current proof uses synthetic provider data; no production Autotrader access is claimed.</a:t>
            </a:r>
            <a:endParaRPr lang="en-US" sz="76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mahmoudashraf/Downloads/Projects/TheBaseRepo/Platfrom/loomai-site/public/assets/reference/loom-word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4048" y="219456"/>
            <a:ext cx="1609344" cy="39319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321040" y="310896"/>
            <a:ext cx="3246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spc="130" kern="0" dirty="0">
                <a:solidFill>
                  <a:srgbClr val="1265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BUYER EXPERIENCE</a:t>
            </a:r>
            <a:endParaRPr lang="en-US" sz="800" dirty="0"/>
          </a:p>
        </p:txBody>
      </p:sp>
      <p:sp>
        <p:nvSpPr>
          <p:cNvPr id="4" name="Text 1"/>
          <p:cNvSpPr/>
          <p:nvPr/>
        </p:nvSpPr>
        <p:spPr>
          <a:xfrm>
            <a:off x="384048" y="6601968"/>
            <a:ext cx="274320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80" kern="0" dirty="0">
                <a:solidFill>
                  <a:srgbClr val="667797"/>
                </a:solidFill>
              </a:rPr>
              <a:t>CONFIDENTIAL PARTNERSHIP DISCUSSION</a:t>
            </a:r>
            <a:endParaRPr lang="en-US" sz="700" dirty="0"/>
          </a:p>
        </p:txBody>
      </p:sp>
      <p:sp>
        <p:nvSpPr>
          <p:cNvPr id="5" name="Text 2"/>
          <p:cNvSpPr/>
          <p:nvPr/>
        </p:nvSpPr>
        <p:spPr>
          <a:xfrm>
            <a:off x="11292840" y="6583680"/>
            <a:ext cx="4114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67797"/>
                </a:solidFill>
              </a:rPr>
              <a:t>02</a:t>
            </a:r>
            <a:endParaRPr lang="en-US" sz="800" dirty="0"/>
          </a:p>
        </p:txBody>
      </p:sp>
      <p:sp>
        <p:nvSpPr>
          <p:cNvPr id="6" name="Text 3"/>
          <p:cNvSpPr/>
          <p:nvPr/>
        </p:nvSpPr>
        <p:spPr>
          <a:xfrm>
            <a:off x="502920" y="786384"/>
            <a:ext cx="5120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05BCE7"/>
                </a:solidFill>
              </a:rPr>
              <a:t>FROM INTENT TO ACTION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502920" y="1005840"/>
            <a:ext cx="10972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071B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journey, from a vague need to a qualified handoff.</a:t>
            </a:r>
            <a:endParaRPr lang="en-US" sz="2800" dirty="0"/>
          </a:p>
        </p:txBody>
      </p:sp>
      <p:sp>
        <p:nvSpPr>
          <p:cNvPr id="8" name="Text 5"/>
          <p:cNvSpPr/>
          <p:nvPr/>
        </p:nvSpPr>
        <p:spPr>
          <a:xfrm>
            <a:off x="521208" y="1627632"/>
            <a:ext cx="10698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30466E"/>
                </a:solidFill>
              </a:rPr>
              <a:t>The buyer can search naturally, understand the trade-offs and move forward without repeating the conversation.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172200" y="2139696"/>
            <a:ext cx="5468112" cy="3419856"/>
          </a:xfrm>
          <a:prstGeom prst="roundRect">
            <a:avLst>
              <a:gd name="adj" fmla="val 1604"/>
            </a:avLst>
          </a:prstGeom>
          <a:solidFill>
            <a:srgbClr val="FFFFFF"/>
          </a:solidFill>
          <a:ln w="11430">
            <a:solidFill>
              <a:srgbClr val="C9D7EF"/>
            </a:solidFill>
            <a:prstDash val="solid"/>
          </a:ln>
          <a:effectLst>
            <a:outerShdw sx="100000" sy="100000" kx="0" ky="0" algn="bl" rotWithShape="0" blurRad="19050" dist="50800" dir="2700000">
              <a:srgbClr val="9BADCC">
                <a:alpha val="16000"/>
              </a:srgbClr>
            </a:outerShdw>
          </a:effectLst>
        </p:spPr>
      </p:sp>
      <p:pic>
        <p:nvPicPr>
          <p:cNvPr id="10" name="Image 1" descr="/Users/mahmoudashraf/Downloads/Projects/TheBaseRepo/Final_Documentation/Presentations/assets/autotrader-dealership-live-demo-2026-10-05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0216" y="2267712"/>
            <a:ext cx="5212080" cy="3255264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10268712" y="2377440"/>
            <a:ext cx="932688" cy="292608"/>
          </a:xfrm>
          <a:prstGeom prst="roundRect">
            <a:avLst>
              <a:gd name="adj" fmla="val 18750"/>
            </a:avLst>
          </a:prstGeom>
          <a:solidFill>
            <a:srgbClr val="E9F8F1"/>
          </a:solidFill>
          <a:ln w="12700">
            <a:solidFill>
              <a:srgbClr val="E9F8F1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10341864" y="2446020"/>
            <a:ext cx="78638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F9F74"/>
                </a:solidFill>
              </a:rPr>
              <a:t>LIVE DEMO</a:t>
            </a:r>
            <a:endParaRPr lang="en-US" sz="800" dirty="0"/>
          </a:p>
        </p:txBody>
      </p:sp>
      <p:sp>
        <p:nvSpPr>
          <p:cNvPr id="13" name="Shape 9"/>
          <p:cNvSpPr/>
          <p:nvPr/>
        </p:nvSpPr>
        <p:spPr>
          <a:xfrm>
            <a:off x="530352" y="2121408"/>
            <a:ext cx="525780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1430">
            <a:solidFill>
              <a:srgbClr val="C9D7EF"/>
            </a:solidFill>
            <a:prstDash val="solid"/>
          </a:ln>
          <a:effectLst>
            <a:outerShdw sx="100000" sy="100000" kx="0" ky="0" algn="bl" rotWithShape="0" blurRad="15240" dist="50800" dir="2700000">
              <a:srgbClr val="A9B9D4">
                <a:alpha val="12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530352" y="2121408"/>
            <a:ext cx="54864" cy="566928"/>
          </a:xfrm>
          <a:prstGeom prst="rect">
            <a:avLst/>
          </a:prstGeom>
          <a:solidFill>
            <a:srgbClr val="05BCE7"/>
          </a:solidFill>
          <a:ln w="12700">
            <a:solidFill>
              <a:srgbClr val="05BCE7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694944" y="2286000"/>
            <a:ext cx="347472" cy="347472"/>
          </a:xfrm>
          <a:prstGeom prst="ellipse">
            <a:avLst/>
          </a:prstGeom>
          <a:solidFill>
            <a:srgbClr val="05BCE7"/>
          </a:solidFill>
          <a:ln w="12700">
            <a:solidFill>
              <a:srgbClr val="05BCE7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694944" y="2382012"/>
            <a:ext cx="34747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1</a:t>
            </a:r>
            <a:endParaRPr lang="en-US" sz="900" dirty="0"/>
          </a:p>
        </p:txBody>
      </p:sp>
      <p:sp>
        <p:nvSpPr>
          <p:cNvPr id="17" name="Text 13"/>
          <p:cNvSpPr/>
          <p:nvPr/>
        </p:nvSpPr>
        <p:spPr>
          <a:xfrm>
            <a:off x="1152144" y="2231136"/>
            <a:ext cx="44714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b="1" dirty="0">
                <a:solidFill>
                  <a:srgbClr val="102448"/>
                </a:solidFill>
              </a:rPr>
              <a:t>Describe</a:t>
            </a:r>
            <a:endParaRPr lang="en-US" sz="1120" dirty="0"/>
          </a:p>
        </p:txBody>
      </p:sp>
      <p:sp>
        <p:nvSpPr>
          <p:cNvPr id="18" name="Text 14"/>
          <p:cNvSpPr/>
          <p:nvPr/>
        </p:nvSpPr>
        <p:spPr>
          <a:xfrm>
            <a:off x="1152144" y="2478024"/>
            <a:ext cx="447141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30466E"/>
                </a:solidFill>
              </a:rPr>
              <a:t>Everyday needs, budget, journey and preferences</a:t>
            </a:r>
            <a:endParaRPr lang="en-US" sz="850" dirty="0"/>
          </a:p>
        </p:txBody>
      </p:sp>
      <p:sp>
        <p:nvSpPr>
          <p:cNvPr id="19" name="Shape 15"/>
          <p:cNvSpPr/>
          <p:nvPr/>
        </p:nvSpPr>
        <p:spPr>
          <a:xfrm>
            <a:off x="530352" y="2807208"/>
            <a:ext cx="525780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1430">
            <a:solidFill>
              <a:srgbClr val="C9D7EF"/>
            </a:solidFill>
            <a:prstDash val="solid"/>
          </a:ln>
          <a:effectLst>
            <a:outerShdw sx="100000" sy="100000" kx="0" ky="0" algn="bl" rotWithShape="0" blurRad="15240" dist="50800" dir="2700000">
              <a:srgbClr val="A9B9D4">
                <a:alpha val="12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530352" y="2807208"/>
            <a:ext cx="54864" cy="566928"/>
          </a:xfrm>
          <a:prstGeom prst="rect">
            <a:avLst/>
          </a:prstGeom>
          <a:solidFill>
            <a:srgbClr val="1265F3"/>
          </a:solidFill>
          <a:ln w="12700">
            <a:solidFill>
              <a:srgbClr val="1265F3"/>
            </a:solidFill>
            <a:prstDash val="solid"/>
          </a:ln>
        </p:spPr>
      </p:sp>
      <p:sp>
        <p:nvSpPr>
          <p:cNvPr id="21" name="Shape 17"/>
          <p:cNvSpPr/>
          <p:nvPr/>
        </p:nvSpPr>
        <p:spPr>
          <a:xfrm>
            <a:off x="694944" y="2971800"/>
            <a:ext cx="347472" cy="347472"/>
          </a:xfrm>
          <a:prstGeom prst="ellipse">
            <a:avLst/>
          </a:prstGeom>
          <a:solidFill>
            <a:srgbClr val="1265F3"/>
          </a:solidFill>
          <a:ln w="12700">
            <a:solidFill>
              <a:srgbClr val="1265F3"/>
            </a:solidFill>
            <a:prstDash val="solid"/>
          </a:ln>
        </p:spPr>
      </p:sp>
      <p:sp>
        <p:nvSpPr>
          <p:cNvPr id="22" name="Text 18"/>
          <p:cNvSpPr/>
          <p:nvPr/>
        </p:nvSpPr>
        <p:spPr>
          <a:xfrm>
            <a:off x="694944" y="3067812"/>
            <a:ext cx="34747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2</a:t>
            </a:r>
            <a:endParaRPr lang="en-US" sz="900" dirty="0"/>
          </a:p>
        </p:txBody>
      </p:sp>
      <p:sp>
        <p:nvSpPr>
          <p:cNvPr id="23" name="Text 19"/>
          <p:cNvSpPr/>
          <p:nvPr/>
        </p:nvSpPr>
        <p:spPr>
          <a:xfrm>
            <a:off x="1152144" y="2916936"/>
            <a:ext cx="44714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b="1" dirty="0">
                <a:solidFill>
                  <a:srgbClr val="102448"/>
                </a:solidFill>
              </a:rPr>
              <a:t>Discover</a:t>
            </a:r>
            <a:endParaRPr lang="en-US" sz="1120" dirty="0"/>
          </a:p>
        </p:txBody>
      </p:sp>
      <p:sp>
        <p:nvSpPr>
          <p:cNvPr id="24" name="Text 20"/>
          <p:cNvSpPr/>
          <p:nvPr/>
        </p:nvSpPr>
        <p:spPr>
          <a:xfrm>
            <a:off x="1152144" y="3163824"/>
            <a:ext cx="447141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30466E"/>
                </a:solidFill>
              </a:rPr>
              <a:t>Semantic shortlist from this dealer's permitted stock</a:t>
            </a:r>
            <a:endParaRPr lang="en-US" sz="850" dirty="0"/>
          </a:p>
        </p:txBody>
      </p:sp>
      <p:sp>
        <p:nvSpPr>
          <p:cNvPr id="25" name="Shape 21"/>
          <p:cNvSpPr/>
          <p:nvPr/>
        </p:nvSpPr>
        <p:spPr>
          <a:xfrm>
            <a:off x="530352" y="3493008"/>
            <a:ext cx="525780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1430">
            <a:solidFill>
              <a:srgbClr val="C9D7EF"/>
            </a:solidFill>
            <a:prstDash val="solid"/>
          </a:ln>
          <a:effectLst>
            <a:outerShdw sx="100000" sy="100000" kx="0" ky="0" algn="bl" rotWithShape="0" blurRad="15240" dist="50800" dir="2700000">
              <a:srgbClr val="A9B9D4">
                <a:alpha val="12000"/>
              </a:srgbClr>
            </a:outerShdw>
          </a:effectLst>
        </p:spPr>
      </p:sp>
      <p:sp>
        <p:nvSpPr>
          <p:cNvPr id="26" name="Shape 22"/>
          <p:cNvSpPr/>
          <p:nvPr/>
        </p:nvSpPr>
        <p:spPr>
          <a:xfrm>
            <a:off x="530352" y="3493008"/>
            <a:ext cx="54864" cy="566928"/>
          </a:xfrm>
          <a:prstGeom prst="rect">
            <a:avLst/>
          </a:prstGeom>
          <a:solidFill>
            <a:srgbClr val="7443F5"/>
          </a:solidFill>
          <a:ln w="12700">
            <a:solidFill>
              <a:srgbClr val="7443F5"/>
            </a:solidFill>
            <a:prstDash val="solid"/>
          </a:ln>
        </p:spPr>
      </p:sp>
      <p:sp>
        <p:nvSpPr>
          <p:cNvPr id="27" name="Shape 23"/>
          <p:cNvSpPr/>
          <p:nvPr/>
        </p:nvSpPr>
        <p:spPr>
          <a:xfrm>
            <a:off x="694944" y="3657600"/>
            <a:ext cx="347472" cy="347472"/>
          </a:xfrm>
          <a:prstGeom prst="ellipse">
            <a:avLst/>
          </a:prstGeom>
          <a:solidFill>
            <a:srgbClr val="7443F5"/>
          </a:solidFill>
          <a:ln w="12700">
            <a:solidFill>
              <a:srgbClr val="7443F5"/>
            </a:solidFill>
            <a:prstDash val="solid"/>
          </a:ln>
        </p:spPr>
      </p:sp>
      <p:sp>
        <p:nvSpPr>
          <p:cNvPr id="28" name="Text 24"/>
          <p:cNvSpPr/>
          <p:nvPr/>
        </p:nvSpPr>
        <p:spPr>
          <a:xfrm>
            <a:off x="694944" y="3753612"/>
            <a:ext cx="34747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3</a:t>
            </a:r>
            <a:endParaRPr lang="en-US" sz="900" dirty="0"/>
          </a:p>
        </p:txBody>
      </p:sp>
      <p:sp>
        <p:nvSpPr>
          <p:cNvPr id="29" name="Text 25"/>
          <p:cNvSpPr/>
          <p:nvPr/>
        </p:nvSpPr>
        <p:spPr>
          <a:xfrm>
            <a:off x="1152144" y="3602736"/>
            <a:ext cx="44714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b="1" dirty="0">
                <a:solidFill>
                  <a:srgbClr val="102448"/>
                </a:solidFill>
              </a:rPr>
              <a:t>Compare</a:t>
            </a:r>
            <a:endParaRPr lang="en-US" sz="1120" dirty="0"/>
          </a:p>
        </p:txBody>
      </p:sp>
      <p:sp>
        <p:nvSpPr>
          <p:cNvPr id="30" name="Text 26"/>
          <p:cNvSpPr/>
          <p:nvPr/>
        </p:nvSpPr>
        <p:spPr>
          <a:xfrm>
            <a:off x="1152144" y="3849624"/>
            <a:ext cx="447141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30466E"/>
                </a:solidFill>
              </a:rPr>
              <a:t>Consistent facts, evidence and visible trade-offs</a:t>
            </a:r>
            <a:endParaRPr lang="en-US" sz="850" dirty="0"/>
          </a:p>
        </p:txBody>
      </p:sp>
      <p:sp>
        <p:nvSpPr>
          <p:cNvPr id="31" name="Shape 27"/>
          <p:cNvSpPr/>
          <p:nvPr/>
        </p:nvSpPr>
        <p:spPr>
          <a:xfrm>
            <a:off x="530352" y="4178808"/>
            <a:ext cx="525780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1430">
            <a:solidFill>
              <a:srgbClr val="C9D7EF"/>
            </a:solidFill>
            <a:prstDash val="solid"/>
          </a:ln>
          <a:effectLst>
            <a:outerShdw sx="100000" sy="100000" kx="0" ky="0" algn="bl" rotWithShape="0" blurRad="15240" dist="50800" dir="2700000">
              <a:srgbClr val="A9B9D4">
                <a:alpha val="12000"/>
              </a:srgbClr>
            </a:outerShdw>
          </a:effectLst>
        </p:spPr>
      </p:sp>
      <p:sp>
        <p:nvSpPr>
          <p:cNvPr id="32" name="Shape 28"/>
          <p:cNvSpPr/>
          <p:nvPr/>
        </p:nvSpPr>
        <p:spPr>
          <a:xfrm>
            <a:off x="530352" y="4178808"/>
            <a:ext cx="54864" cy="566928"/>
          </a:xfrm>
          <a:prstGeom prst="rect">
            <a:avLst/>
          </a:prstGeom>
          <a:solidFill>
            <a:srgbClr val="0F9F74"/>
          </a:solidFill>
          <a:ln w="12700">
            <a:solidFill>
              <a:srgbClr val="0F9F74"/>
            </a:solidFill>
            <a:prstDash val="solid"/>
          </a:ln>
        </p:spPr>
      </p:sp>
      <p:sp>
        <p:nvSpPr>
          <p:cNvPr id="33" name="Shape 29"/>
          <p:cNvSpPr/>
          <p:nvPr/>
        </p:nvSpPr>
        <p:spPr>
          <a:xfrm>
            <a:off x="694944" y="4343400"/>
            <a:ext cx="347472" cy="347472"/>
          </a:xfrm>
          <a:prstGeom prst="ellipse">
            <a:avLst/>
          </a:prstGeom>
          <a:solidFill>
            <a:srgbClr val="0F9F74"/>
          </a:solidFill>
          <a:ln w="12700">
            <a:solidFill>
              <a:srgbClr val="0F9F74"/>
            </a:solidFill>
            <a:prstDash val="solid"/>
          </a:ln>
        </p:spPr>
      </p:sp>
      <p:sp>
        <p:nvSpPr>
          <p:cNvPr id="34" name="Text 30"/>
          <p:cNvSpPr/>
          <p:nvPr/>
        </p:nvSpPr>
        <p:spPr>
          <a:xfrm>
            <a:off x="694944" y="4439412"/>
            <a:ext cx="34747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4</a:t>
            </a:r>
            <a:endParaRPr lang="en-US" sz="900" dirty="0"/>
          </a:p>
        </p:txBody>
      </p:sp>
      <p:sp>
        <p:nvSpPr>
          <p:cNvPr id="35" name="Text 31"/>
          <p:cNvSpPr/>
          <p:nvPr/>
        </p:nvSpPr>
        <p:spPr>
          <a:xfrm>
            <a:off x="1152144" y="4288536"/>
            <a:ext cx="44714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b="1" dirty="0">
                <a:solidFill>
                  <a:srgbClr val="102448"/>
                </a:solidFill>
              </a:rPr>
              <a:t>Verify</a:t>
            </a:r>
            <a:endParaRPr lang="en-US" sz="1120" dirty="0"/>
          </a:p>
        </p:txBody>
      </p:sp>
      <p:sp>
        <p:nvSpPr>
          <p:cNvPr id="36" name="Text 32"/>
          <p:cNvSpPr/>
          <p:nvPr/>
        </p:nvSpPr>
        <p:spPr>
          <a:xfrm>
            <a:off x="1152144" y="4535424"/>
            <a:ext cx="447141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30466E"/>
                </a:solidFill>
              </a:rPr>
              <a:t>Re-read current price, availability and key facts</a:t>
            </a:r>
            <a:endParaRPr lang="en-US" sz="850" dirty="0"/>
          </a:p>
        </p:txBody>
      </p:sp>
      <p:sp>
        <p:nvSpPr>
          <p:cNvPr id="37" name="Shape 33"/>
          <p:cNvSpPr/>
          <p:nvPr/>
        </p:nvSpPr>
        <p:spPr>
          <a:xfrm>
            <a:off x="530352" y="4864608"/>
            <a:ext cx="525780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1430">
            <a:solidFill>
              <a:srgbClr val="C9D7EF"/>
            </a:solidFill>
            <a:prstDash val="solid"/>
          </a:ln>
          <a:effectLst>
            <a:outerShdw sx="100000" sy="100000" kx="0" ky="0" algn="bl" rotWithShape="0" blurRad="15240" dist="50800" dir="2700000">
              <a:srgbClr val="A9B9D4">
                <a:alpha val="12000"/>
              </a:srgbClr>
            </a:outerShdw>
          </a:effectLst>
        </p:spPr>
      </p:sp>
      <p:sp>
        <p:nvSpPr>
          <p:cNvPr id="38" name="Shape 34"/>
          <p:cNvSpPr/>
          <p:nvPr/>
        </p:nvSpPr>
        <p:spPr>
          <a:xfrm>
            <a:off x="530352" y="4864608"/>
            <a:ext cx="54864" cy="566928"/>
          </a:xfrm>
          <a:prstGeom prst="rect">
            <a:avLst/>
          </a:prstGeom>
          <a:solidFill>
            <a:srgbClr val="B86A00"/>
          </a:solidFill>
          <a:ln w="12700">
            <a:solidFill>
              <a:srgbClr val="B86A00"/>
            </a:solidFill>
            <a:prstDash val="solid"/>
          </a:ln>
        </p:spPr>
      </p:sp>
      <p:sp>
        <p:nvSpPr>
          <p:cNvPr id="39" name="Shape 35"/>
          <p:cNvSpPr/>
          <p:nvPr/>
        </p:nvSpPr>
        <p:spPr>
          <a:xfrm>
            <a:off x="694944" y="5029200"/>
            <a:ext cx="347472" cy="347472"/>
          </a:xfrm>
          <a:prstGeom prst="ellipse">
            <a:avLst/>
          </a:prstGeom>
          <a:solidFill>
            <a:srgbClr val="B86A00"/>
          </a:solidFill>
          <a:ln w="12700">
            <a:solidFill>
              <a:srgbClr val="B86A00"/>
            </a:solidFill>
            <a:prstDash val="solid"/>
          </a:ln>
        </p:spPr>
      </p:sp>
      <p:sp>
        <p:nvSpPr>
          <p:cNvPr id="40" name="Text 36"/>
          <p:cNvSpPr/>
          <p:nvPr/>
        </p:nvSpPr>
        <p:spPr>
          <a:xfrm>
            <a:off x="694944" y="5125212"/>
            <a:ext cx="34747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5</a:t>
            </a:r>
            <a:endParaRPr lang="en-US" sz="900" dirty="0"/>
          </a:p>
        </p:txBody>
      </p:sp>
      <p:sp>
        <p:nvSpPr>
          <p:cNvPr id="41" name="Text 37"/>
          <p:cNvSpPr/>
          <p:nvPr/>
        </p:nvSpPr>
        <p:spPr>
          <a:xfrm>
            <a:off x="1152144" y="4974336"/>
            <a:ext cx="44714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b="1" dirty="0">
                <a:solidFill>
                  <a:srgbClr val="102448"/>
                </a:solidFill>
              </a:rPr>
              <a:t>Handoff</a:t>
            </a:r>
            <a:endParaRPr lang="en-US" sz="1120" dirty="0"/>
          </a:p>
        </p:txBody>
      </p:sp>
      <p:sp>
        <p:nvSpPr>
          <p:cNvPr id="42" name="Text 38"/>
          <p:cNvSpPr/>
          <p:nvPr/>
        </p:nvSpPr>
        <p:spPr>
          <a:xfrm>
            <a:off x="1152144" y="5221224"/>
            <a:ext cx="447141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30466E"/>
                </a:solidFill>
              </a:rPr>
              <a:t>Customer-approved context plus a durable receipt</a:t>
            </a:r>
            <a:endParaRPr lang="en-US" sz="850" dirty="0"/>
          </a:p>
        </p:txBody>
      </p:sp>
      <p:sp>
        <p:nvSpPr>
          <p:cNvPr id="43" name="Shape 39"/>
          <p:cNvSpPr/>
          <p:nvPr/>
        </p:nvSpPr>
        <p:spPr>
          <a:xfrm>
            <a:off x="530352" y="5806440"/>
            <a:ext cx="11100816" cy="411480"/>
          </a:xfrm>
          <a:prstGeom prst="roundRect">
            <a:avLst>
              <a:gd name="adj" fmla="val 11111"/>
            </a:avLst>
          </a:prstGeom>
          <a:solidFill>
            <a:srgbClr val="EEF4FF"/>
          </a:solidFill>
          <a:ln w="10160">
            <a:solidFill>
              <a:srgbClr val="C9D7EF"/>
            </a:solidFill>
            <a:prstDash val="solid"/>
          </a:ln>
        </p:spPr>
      </p:sp>
      <p:sp>
        <p:nvSpPr>
          <p:cNvPr id="44" name="Text 40"/>
          <p:cNvSpPr/>
          <p:nvPr/>
        </p:nvSpPr>
        <p:spPr>
          <a:xfrm>
            <a:off x="749808" y="5934456"/>
            <a:ext cx="10515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265F3"/>
                </a:solidFill>
              </a:rPr>
              <a:t>Customer surface</a:t>
            </a:r>
            <a:endParaRPr lang="en-US" sz="800" dirty="0"/>
          </a:p>
        </p:txBody>
      </p:sp>
      <p:sp>
        <p:nvSpPr>
          <p:cNvPr id="45" name="Text 41"/>
          <p:cNvSpPr/>
          <p:nvPr/>
        </p:nvSpPr>
        <p:spPr>
          <a:xfrm>
            <a:off x="1828800" y="5907024"/>
            <a:ext cx="806500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102448"/>
                </a:solidFill>
              </a:rPr>
              <a:t>Docked chat for quick questions  |  Max workspace for search, comparison, sources and confirmed actions</a:t>
            </a:r>
            <a:endParaRPr lang="en-US" sz="920" dirty="0"/>
          </a:p>
        </p:txBody>
      </p:sp>
      <p:sp>
        <p:nvSpPr>
          <p:cNvPr id="46" name="Text 42"/>
          <p:cNvSpPr/>
          <p:nvPr/>
        </p:nvSpPr>
        <p:spPr>
          <a:xfrm>
            <a:off x="9829800" y="5916168"/>
            <a:ext cx="153619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20" b="1" dirty="0">
                <a:solidFill>
                  <a:srgbClr val="7443F5"/>
                </a:solidFill>
              </a:rPr>
              <a:t>loomai.pro/demos/dealership-ai</a:t>
            </a:r>
            <a:endParaRPr lang="en-US" sz="720" dirty="0"/>
          </a:p>
        </p:txBody>
      </p:sp>
      <p:sp>
        <p:nvSpPr>
          <p:cNvPr id="47" name="Text 43"/>
          <p:cNvSpPr/>
          <p:nvPr/>
        </p:nvSpPr>
        <p:spPr>
          <a:xfrm>
            <a:off x="6446520" y="5559552"/>
            <a:ext cx="4983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i="1" dirty="0">
                <a:solidFill>
                  <a:srgbClr val="667797"/>
                </a:solidFill>
              </a:rPr>
              <a:t>Demonstration inventory is fictional and clearly disclosed in the experience.</a:t>
            </a:r>
            <a:endParaRPr lang="en-US" sz="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mahmoudashraf/Downloads/Projects/TheBaseRepo/Platfrom/loomai-site/public/assets/reference/loom-word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4048" y="219456"/>
            <a:ext cx="1609344" cy="39319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321040" y="310896"/>
            <a:ext cx="3246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spc="130" kern="0" dirty="0">
                <a:solidFill>
                  <a:srgbClr val="1265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FRESHNESS AND GROUNDED REASONING</a:t>
            </a:r>
            <a:endParaRPr lang="en-US" sz="800" dirty="0"/>
          </a:p>
        </p:txBody>
      </p:sp>
      <p:sp>
        <p:nvSpPr>
          <p:cNvPr id="4" name="Text 1"/>
          <p:cNvSpPr/>
          <p:nvPr/>
        </p:nvSpPr>
        <p:spPr>
          <a:xfrm>
            <a:off x="384048" y="6601968"/>
            <a:ext cx="274320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80" kern="0" dirty="0">
                <a:solidFill>
                  <a:srgbClr val="667797"/>
                </a:solidFill>
              </a:rPr>
              <a:t>CONFIDENTIAL PARTNERSHIP DISCUSSION</a:t>
            </a:r>
            <a:endParaRPr lang="en-US" sz="700" dirty="0"/>
          </a:p>
        </p:txBody>
      </p:sp>
      <p:sp>
        <p:nvSpPr>
          <p:cNvPr id="5" name="Text 2"/>
          <p:cNvSpPr/>
          <p:nvPr/>
        </p:nvSpPr>
        <p:spPr>
          <a:xfrm>
            <a:off x="11292840" y="6583680"/>
            <a:ext cx="4114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67797"/>
                </a:solidFill>
              </a:rPr>
              <a:t>03</a:t>
            </a:r>
            <a:endParaRPr lang="en-US" sz="800" dirty="0"/>
          </a:p>
        </p:txBody>
      </p:sp>
      <p:sp>
        <p:nvSpPr>
          <p:cNvPr id="6" name="Text 3"/>
          <p:cNvSpPr/>
          <p:nvPr/>
        </p:nvSpPr>
        <p:spPr>
          <a:xfrm>
            <a:off x="502920" y="786384"/>
            <a:ext cx="5120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05BCE7"/>
                </a:solidFill>
              </a:rPr>
              <a:t>DATA FRESHNESS AND GROUNDED REASONING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502920" y="1005840"/>
            <a:ext cx="10972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071B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data stays live. Indexed data stays useful.</a:t>
            </a:r>
            <a:endParaRPr lang="en-US" sz="2800" dirty="0"/>
          </a:p>
        </p:txBody>
      </p:sp>
      <p:sp>
        <p:nvSpPr>
          <p:cNvPr id="8" name="Text 5"/>
          <p:cNvSpPr/>
          <p:nvPr/>
        </p:nvSpPr>
        <p:spPr>
          <a:xfrm>
            <a:off x="521208" y="1627632"/>
            <a:ext cx="10698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30466E"/>
                </a:solidFill>
              </a:rPr>
              <a:t>LoomAI separates discovery evidence from operational truth, then revalidates important facts before a decision.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530352" y="2395728"/>
            <a:ext cx="1874520" cy="1170432"/>
          </a:xfrm>
          <a:prstGeom prst="roundRect">
            <a:avLst>
              <a:gd name="adj" fmla="val 6250"/>
            </a:avLst>
          </a:prstGeom>
          <a:solidFill>
            <a:srgbClr val="EAFBFE"/>
          </a:solidFill>
          <a:ln w="11430">
            <a:solidFill>
              <a:srgbClr val="C9D7EF"/>
            </a:solidFill>
            <a:prstDash val="solid"/>
          </a:ln>
          <a:effectLst>
            <a:outerShdw sx="100000" sy="100000" kx="0" ky="0" algn="bl" rotWithShape="0" blurRad="15240" dist="50800" dir="2700000">
              <a:srgbClr val="A9B9D4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530352" y="2395728"/>
            <a:ext cx="54864" cy="1170432"/>
          </a:xfrm>
          <a:prstGeom prst="rect">
            <a:avLst/>
          </a:prstGeom>
          <a:solidFill>
            <a:srgbClr val="05BCE7"/>
          </a:solidFill>
          <a:ln w="12700">
            <a:solidFill>
              <a:srgbClr val="05BCE7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749808" y="2569464"/>
            <a:ext cx="149047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b="1" dirty="0">
                <a:solidFill>
                  <a:srgbClr val="102448"/>
                </a:solidFill>
              </a:rPr>
              <a:t>Autotrader Connect</a:t>
            </a:r>
            <a:endParaRPr lang="en-US" sz="1220" dirty="0"/>
          </a:p>
        </p:txBody>
      </p:sp>
      <p:sp>
        <p:nvSpPr>
          <p:cNvPr id="12" name="Text 9"/>
          <p:cNvSpPr/>
          <p:nvPr/>
        </p:nvSpPr>
        <p:spPr>
          <a:xfrm>
            <a:off x="749808" y="2880360"/>
            <a:ext cx="1490472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30466E"/>
                </a:solidFill>
              </a:rPr>
              <a:t>Dealer-scoped baseline + stock events</a:t>
            </a:r>
            <a:endParaRPr lang="en-US" sz="920" dirty="0"/>
          </a:p>
        </p:txBody>
      </p:sp>
      <p:sp>
        <p:nvSpPr>
          <p:cNvPr id="13" name="Shape 10"/>
          <p:cNvSpPr/>
          <p:nvPr/>
        </p:nvSpPr>
        <p:spPr>
          <a:xfrm>
            <a:off x="2487168" y="2816352"/>
            <a:ext cx="228600" cy="310896"/>
          </a:xfrm>
          <a:prstGeom prst="chevron">
            <a:avLst/>
          </a:prstGeom>
          <a:solidFill>
            <a:srgbClr val="1265F3"/>
          </a:solidFill>
          <a:ln w="12700">
            <a:solidFill>
              <a:srgbClr val="1265F3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2770632" y="2395728"/>
            <a:ext cx="1874520" cy="1170432"/>
          </a:xfrm>
          <a:prstGeom prst="roundRect">
            <a:avLst>
              <a:gd name="adj" fmla="val 6250"/>
            </a:avLst>
          </a:prstGeom>
          <a:solidFill>
            <a:srgbClr val="F2EEFF"/>
          </a:solidFill>
          <a:ln w="11430">
            <a:solidFill>
              <a:srgbClr val="C9D7EF"/>
            </a:solidFill>
            <a:prstDash val="solid"/>
          </a:ln>
          <a:effectLst>
            <a:outerShdw sx="100000" sy="100000" kx="0" ky="0" algn="bl" rotWithShape="0" blurRad="15240" dist="50800" dir="2700000">
              <a:srgbClr val="A9B9D4">
                <a:alpha val="12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2770632" y="2395728"/>
            <a:ext cx="54864" cy="1170432"/>
          </a:xfrm>
          <a:prstGeom prst="rect">
            <a:avLst/>
          </a:prstGeom>
          <a:solidFill>
            <a:srgbClr val="7443F5"/>
          </a:solidFill>
          <a:ln w="12700">
            <a:solidFill>
              <a:srgbClr val="7443F5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2990088" y="2569464"/>
            <a:ext cx="149047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b="1" dirty="0">
                <a:solidFill>
                  <a:srgbClr val="102448"/>
                </a:solidFill>
              </a:rPr>
              <a:t>DATA plugin</a:t>
            </a:r>
            <a:endParaRPr lang="en-US" sz="1220" dirty="0"/>
          </a:p>
        </p:txBody>
      </p:sp>
      <p:sp>
        <p:nvSpPr>
          <p:cNvPr id="17" name="Text 14"/>
          <p:cNvSpPr/>
          <p:nvPr/>
        </p:nvSpPr>
        <p:spPr>
          <a:xfrm>
            <a:off x="2990088" y="2880360"/>
            <a:ext cx="1490472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30466E"/>
                </a:solidFill>
              </a:rPr>
              <a:t>Authenticate, normalise, reconcile and delete</a:t>
            </a:r>
            <a:endParaRPr lang="en-US" sz="920" dirty="0"/>
          </a:p>
        </p:txBody>
      </p:sp>
      <p:sp>
        <p:nvSpPr>
          <p:cNvPr id="18" name="Shape 15"/>
          <p:cNvSpPr/>
          <p:nvPr/>
        </p:nvSpPr>
        <p:spPr>
          <a:xfrm>
            <a:off x="4727448" y="2816352"/>
            <a:ext cx="228600" cy="310896"/>
          </a:xfrm>
          <a:prstGeom prst="chevron">
            <a:avLst/>
          </a:prstGeom>
          <a:solidFill>
            <a:srgbClr val="1265F3"/>
          </a:solidFill>
          <a:ln w="12700">
            <a:solidFill>
              <a:srgbClr val="1265F3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5010912" y="2395728"/>
            <a:ext cx="1874520" cy="1170432"/>
          </a:xfrm>
          <a:prstGeom prst="roundRect">
            <a:avLst>
              <a:gd name="adj" fmla="val 6250"/>
            </a:avLst>
          </a:prstGeom>
          <a:solidFill>
            <a:srgbClr val="EEF4FF"/>
          </a:solidFill>
          <a:ln w="11430">
            <a:solidFill>
              <a:srgbClr val="C9D7EF"/>
            </a:solidFill>
            <a:prstDash val="solid"/>
          </a:ln>
          <a:effectLst>
            <a:outerShdw sx="100000" sy="100000" kx="0" ky="0" algn="bl" rotWithShape="0" blurRad="15240" dist="50800" dir="2700000">
              <a:srgbClr val="A9B9D4">
                <a:alpha val="12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5010912" y="2395728"/>
            <a:ext cx="54864" cy="1170432"/>
          </a:xfrm>
          <a:prstGeom prst="rect">
            <a:avLst/>
          </a:prstGeom>
          <a:solidFill>
            <a:srgbClr val="1265F3"/>
          </a:solidFill>
          <a:ln w="12700">
            <a:solidFill>
              <a:srgbClr val="1265F3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5230368" y="2569464"/>
            <a:ext cx="149047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b="1" dirty="0">
                <a:solidFill>
                  <a:srgbClr val="102448"/>
                </a:solidFill>
              </a:rPr>
              <a:t>Dealer projection</a:t>
            </a:r>
            <a:endParaRPr lang="en-US" sz="1220" dirty="0"/>
          </a:p>
        </p:txBody>
      </p:sp>
      <p:sp>
        <p:nvSpPr>
          <p:cNvPr id="22" name="Text 19"/>
          <p:cNvSpPr/>
          <p:nvPr/>
        </p:nvSpPr>
        <p:spPr>
          <a:xfrm>
            <a:off x="5230368" y="2880360"/>
            <a:ext cx="1490472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30466E"/>
                </a:solidFill>
              </a:rPr>
              <a:t>Typed current records with source identity</a:t>
            </a:r>
            <a:endParaRPr lang="en-US" sz="920" dirty="0"/>
          </a:p>
        </p:txBody>
      </p:sp>
      <p:sp>
        <p:nvSpPr>
          <p:cNvPr id="23" name="Shape 20"/>
          <p:cNvSpPr/>
          <p:nvPr/>
        </p:nvSpPr>
        <p:spPr>
          <a:xfrm>
            <a:off x="6967728" y="2816352"/>
            <a:ext cx="228600" cy="310896"/>
          </a:xfrm>
          <a:prstGeom prst="chevron">
            <a:avLst/>
          </a:prstGeom>
          <a:solidFill>
            <a:srgbClr val="1265F3"/>
          </a:solidFill>
          <a:ln w="12700">
            <a:solidFill>
              <a:srgbClr val="1265F3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7251192" y="2395728"/>
            <a:ext cx="1874520" cy="1170432"/>
          </a:xfrm>
          <a:prstGeom prst="roundRect">
            <a:avLst>
              <a:gd name="adj" fmla="val 6250"/>
            </a:avLst>
          </a:prstGeom>
          <a:solidFill>
            <a:srgbClr val="E9F8F1"/>
          </a:solidFill>
          <a:ln w="11430">
            <a:solidFill>
              <a:srgbClr val="C9D7EF"/>
            </a:solidFill>
            <a:prstDash val="solid"/>
          </a:ln>
          <a:effectLst>
            <a:outerShdw sx="100000" sy="100000" kx="0" ky="0" algn="bl" rotWithShape="0" blurRad="15240" dist="50800" dir="2700000">
              <a:srgbClr val="A9B9D4">
                <a:alpha val="12000"/>
              </a:srgbClr>
            </a:outerShdw>
          </a:effectLst>
        </p:spPr>
      </p:sp>
      <p:sp>
        <p:nvSpPr>
          <p:cNvPr id="25" name="Shape 22"/>
          <p:cNvSpPr/>
          <p:nvPr/>
        </p:nvSpPr>
        <p:spPr>
          <a:xfrm>
            <a:off x="7251192" y="2395728"/>
            <a:ext cx="54864" cy="1170432"/>
          </a:xfrm>
          <a:prstGeom prst="rect">
            <a:avLst/>
          </a:prstGeom>
          <a:solidFill>
            <a:srgbClr val="0F9F74"/>
          </a:solidFill>
          <a:ln w="12700">
            <a:solidFill>
              <a:srgbClr val="0F9F74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7470648" y="2569464"/>
            <a:ext cx="149047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b="1" dirty="0">
                <a:solidFill>
                  <a:srgbClr val="102448"/>
                </a:solidFill>
              </a:rPr>
              <a:t>Semantic index</a:t>
            </a:r>
            <a:endParaRPr lang="en-US" sz="1220" dirty="0"/>
          </a:p>
        </p:txBody>
      </p:sp>
      <p:sp>
        <p:nvSpPr>
          <p:cNvPr id="27" name="Text 24"/>
          <p:cNvSpPr/>
          <p:nvPr/>
        </p:nvSpPr>
        <p:spPr>
          <a:xfrm>
            <a:off x="7470648" y="2880360"/>
            <a:ext cx="1490472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30466E"/>
                </a:solidFill>
              </a:rPr>
              <a:t>Derived discovery evidence, rebuildable</a:t>
            </a:r>
            <a:endParaRPr lang="en-US" sz="920" dirty="0"/>
          </a:p>
        </p:txBody>
      </p:sp>
      <p:sp>
        <p:nvSpPr>
          <p:cNvPr id="28" name="Shape 25"/>
          <p:cNvSpPr/>
          <p:nvPr/>
        </p:nvSpPr>
        <p:spPr>
          <a:xfrm>
            <a:off x="9208008" y="2816352"/>
            <a:ext cx="228600" cy="310896"/>
          </a:xfrm>
          <a:prstGeom prst="chevron">
            <a:avLst/>
          </a:prstGeom>
          <a:solidFill>
            <a:srgbClr val="1265F3"/>
          </a:solidFill>
          <a:ln w="12700">
            <a:solidFill>
              <a:srgbClr val="1265F3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9491472" y="2395728"/>
            <a:ext cx="2148840" cy="1170432"/>
          </a:xfrm>
          <a:prstGeom prst="roundRect">
            <a:avLst>
              <a:gd name="adj" fmla="val 6250"/>
            </a:avLst>
          </a:prstGeom>
          <a:solidFill>
            <a:srgbClr val="FFF4DD"/>
          </a:solidFill>
          <a:ln w="11430">
            <a:solidFill>
              <a:srgbClr val="C9D7EF"/>
            </a:solidFill>
            <a:prstDash val="solid"/>
          </a:ln>
          <a:effectLst>
            <a:outerShdw sx="100000" sy="100000" kx="0" ky="0" algn="bl" rotWithShape="0" blurRad="15240" dist="50800" dir="2700000">
              <a:srgbClr val="A9B9D4">
                <a:alpha val="12000"/>
              </a:srgbClr>
            </a:outerShdw>
          </a:effectLst>
        </p:spPr>
      </p:sp>
      <p:sp>
        <p:nvSpPr>
          <p:cNvPr id="30" name="Shape 27"/>
          <p:cNvSpPr/>
          <p:nvPr/>
        </p:nvSpPr>
        <p:spPr>
          <a:xfrm>
            <a:off x="9491472" y="2395728"/>
            <a:ext cx="54864" cy="1170432"/>
          </a:xfrm>
          <a:prstGeom prst="rect">
            <a:avLst/>
          </a:prstGeom>
          <a:solidFill>
            <a:srgbClr val="B86A00"/>
          </a:solidFill>
          <a:ln w="12700">
            <a:solidFill>
              <a:srgbClr val="B86A00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9710928" y="2569464"/>
            <a:ext cx="176479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b="1" dirty="0">
                <a:solidFill>
                  <a:srgbClr val="102448"/>
                </a:solidFill>
              </a:rPr>
              <a:t>Grounded answer</a:t>
            </a:r>
            <a:endParaRPr lang="en-US" sz="1220" dirty="0"/>
          </a:p>
        </p:txBody>
      </p:sp>
      <p:sp>
        <p:nvSpPr>
          <p:cNvPr id="32" name="Text 29"/>
          <p:cNvSpPr/>
          <p:nvPr/>
        </p:nvSpPr>
        <p:spPr>
          <a:xfrm>
            <a:off x="9710928" y="2880360"/>
            <a:ext cx="1764792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30466E"/>
                </a:solidFill>
              </a:rPr>
              <a:t>Source, freshness and unsupported-field honesty</a:t>
            </a:r>
            <a:endParaRPr lang="en-US" sz="920" dirty="0"/>
          </a:p>
        </p:txBody>
      </p:sp>
      <p:sp>
        <p:nvSpPr>
          <p:cNvPr id="33" name="Shape 30"/>
          <p:cNvSpPr/>
          <p:nvPr/>
        </p:nvSpPr>
        <p:spPr>
          <a:xfrm>
            <a:off x="530352" y="3895344"/>
            <a:ext cx="5349240" cy="1225296"/>
          </a:xfrm>
          <a:prstGeom prst="roundRect">
            <a:avLst>
              <a:gd name="adj" fmla="val 4478"/>
            </a:avLst>
          </a:prstGeom>
          <a:solidFill>
            <a:srgbClr val="071B4D"/>
          </a:solidFill>
          <a:ln w="12700">
            <a:solidFill>
              <a:srgbClr val="071B4D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795528" y="4133088"/>
            <a:ext cx="118872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7EE8FF"/>
                </a:solidFill>
              </a:rPr>
              <a:t>EVENT PATH</a:t>
            </a:r>
            <a:endParaRPr lang="en-US" sz="800" dirty="0"/>
          </a:p>
        </p:txBody>
      </p:sp>
      <p:sp>
        <p:nvSpPr>
          <p:cNvPr id="35" name="Text 32"/>
          <p:cNvSpPr/>
          <p:nvPr/>
        </p:nvSpPr>
        <p:spPr>
          <a:xfrm>
            <a:off x="795528" y="4370832"/>
            <a:ext cx="4709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Stock change -&gt; verified notification -&gt; targeted stockId fetch -&gt; upsert or delete -&gt; indexing completion</a:t>
            </a:r>
            <a:endParaRPr lang="en-US" sz="1100" dirty="0"/>
          </a:p>
        </p:txBody>
      </p:sp>
      <p:sp>
        <p:nvSpPr>
          <p:cNvPr id="36" name="Shape 33"/>
          <p:cNvSpPr/>
          <p:nvPr/>
        </p:nvSpPr>
        <p:spPr>
          <a:xfrm>
            <a:off x="6126480" y="3895344"/>
            <a:ext cx="5513832" cy="1225296"/>
          </a:xfrm>
          <a:prstGeom prst="roundRect">
            <a:avLst>
              <a:gd name="adj" fmla="val 4478"/>
            </a:avLst>
          </a:prstGeom>
          <a:solidFill>
            <a:srgbClr val="FFFFFF"/>
          </a:solidFill>
          <a:ln w="11430">
            <a:solidFill>
              <a:srgbClr val="C9D7EF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6382512" y="4133088"/>
            <a:ext cx="132588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1265F3"/>
                </a:solidFill>
              </a:rPr>
              <a:t>DECISION PATH</a:t>
            </a:r>
            <a:endParaRPr lang="en-US" sz="800" dirty="0"/>
          </a:p>
        </p:txBody>
      </p:sp>
      <p:sp>
        <p:nvSpPr>
          <p:cNvPr id="38" name="Text 35"/>
          <p:cNvSpPr/>
          <p:nvPr/>
        </p:nvSpPr>
        <p:spPr>
          <a:xfrm>
            <a:off x="6382512" y="4370832"/>
            <a:ext cx="495604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102448"/>
                </a:solidFill>
              </a:rPr>
              <a:t>Use the index to find candidates. Use a typed live action to confirm price, availability or evidence before presenting or handing off.</a:t>
            </a:r>
            <a:endParaRPr lang="en-US" sz="1050" dirty="0"/>
          </a:p>
        </p:txBody>
      </p:sp>
      <p:sp>
        <p:nvSpPr>
          <p:cNvPr id="39" name="Shape 36"/>
          <p:cNvSpPr/>
          <p:nvPr/>
        </p:nvSpPr>
        <p:spPr>
          <a:xfrm>
            <a:off x="530352" y="5422392"/>
            <a:ext cx="2029968" cy="594360"/>
          </a:xfrm>
          <a:prstGeom prst="roundRect">
            <a:avLst>
              <a:gd name="adj" fmla="val 7692"/>
            </a:avLst>
          </a:prstGeom>
          <a:solidFill>
            <a:srgbClr val="EEF4FF"/>
          </a:solidFill>
          <a:ln w="8890">
            <a:solidFill>
              <a:srgbClr val="C9D7EF"/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640080" y="5559552"/>
            <a:ext cx="181051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02448"/>
                </a:solidFill>
              </a:rPr>
              <a:t>1 advertiser</a:t>
            </a:r>
            <a:endParaRPr lang="en-US" sz="900" dirty="0"/>
          </a:p>
        </p:txBody>
      </p:sp>
      <p:sp>
        <p:nvSpPr>
          <p:cNvPr id="41" name="Text 38"/>
          <p:cNvSpPr/>
          <p:nvPr/>
        </p:nvSpPr>
        <p:spPr>
          <a:xfrm>
            <a:off x="640080" y="5751576"/>
            <a:ext cx="181051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67797"/>
                </a:solidFill>
              </a:rPr>
              <a:t>per deployment</a:t>
            </a:r>
            <a:endParaRPr lang="en-US" sz="750" dirty="0"/>
          </a:p>
        </p:txBody>
      </p:sp>
      <p:sp>
        <p:nvSpPr>
          <p:cNvPr id="42" name="Shape 39"/>
          <p:cNvSpPr/>
          <p:nvPr/>
        </p:nvSpPr>
        <p:spPr>
          <a:xfrm>
            <a:off x="2761488" y="5422392"/>
            <a:ext cx="2029968" cy="594360"/>
          </a:xfrm>
          <a:prstGeom prst="roundRect">
            <a:avLst>
              <a:gd name="adj" fmla="val 7692"/>
            </a:avLst>
          </a:prstGeom>
          <a:solidFill>
            <a:srgbClr val="F2EEFF"/>
          </a:solidFill>
          <a:ln w="8890">
            <a:solidFill>
              <a:srgbClr val="C9D7EF"/>
            </a:solidFill>
            <a:prstDash val="solid"/>
          </a:ln>
        </p:spPr>
      </p:sp>
      <p:sp>
        <p:nvSpPr>
          <p:cNvPr id="43" name="Text 40"/>
          <p:cNvSpPr/>
          <p:nvPr/>
        </p:nvSpPr>
        <p:spPr>
          <a:xfrm>
            <a:off x="2871216" y="5559552"/>
            <a:ext cx="181051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02448"/>
                </a:solidFill>
              </a:rPr>
              <a:t>Permitted fields</a:t>
            </a:r>
            <a:endParaRPr lang="en-US" sz="900" dirty="0"/>
          </a:p>
        </p:txBody>
      </p:sp>
      <p:sp>
        <p:nvSpPr>
          <p:cNvPr id="44" name="Text 41"/>
          <p:cNvSpPr/>
          <p:nvPr/>
        </p:nvSpPr>
        <p:spPr>
          <a:xfrm>
            <a:off x="2871216" y="5751576"/>
            <a:ext cx="181051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67797"/>
                </a:solidFill>
              </a:rPr>
              <a:t>only</a:t>
            </a:r>
            <a:endParaRPr lang="en-US" sz="750" dirty="0"/>
          </a:p>
        </p:txBody>
      </p:sp>
      <p:sp>
        <p:nvSpPr>
          <p:cNvPr id="45" name="Shape 42"/>
          <p:cNvSpPr/>
          <p:nvPr/>
        </p:nvSpPr>
        <p:spPr>
          <a:xfrm>
            <a:off x="4992624" y="5422392"/>
            <a:ext cx="2029968" cy="594360"/>
          </a:xfrm>
          <a:prstGeom prst="roundRect">
            <a:avLst>
              <a:gd name="adj" fmla="val 7692"/>
            </a:avLst>
          </a:prstGeom>
          <a:solidFill>
            <a:srgbClr val="EEF4FF"/>
          </a:solidFill>
          <a:ln w="8890">
            <a:solidFill>
              <a:srgbClr val="C9D7EF"/>
            </a:solidFill>
            <a:prstDash val="solid"/>
          </a:ln>
        </p:spPr>
      </p:sp>
      <p:sp>
        <p:nvSpPr>
          <p:cNvPr id="46" name="Text 43"/>
          <p:cNvSpPr/>
          <p:nvPr/>
        </p:nvSpPr>
        <p:spPr>
          <a:xfrm>
            <a:off x="5102352" y="5559552"/>
            <a:ext cx="181051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02448"/>
                </a:solidFill>
              </a:rPr>
              <a:t>No cross-dealer</a:t>
            </a:r>
            <a:endParaRPr lang="en-US" sz="900" dirty="0"/>
          </a:p>
        </p:txBody>
      </p:sp>
      <p:sp>
        <p:nvSpPr>
          <p:cNvPr id="47" name="Text 44"/>
          <p:cNvSpPr/>
          <p:nvPr/>
        </p:nvSpPr>
        <p:spPr>
          <a:xfrm>
            <a:off x="5102352" y="5751576"/>
            <a:ext cx="181051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67797"/>
                </a:solidFill>
              </a:rPr>
              <a:t>retrieval</a:t>
            </a:r>
            <a:endParaRPr lang="en-US" sz="750" dirty="0"/>
          </a:p>
        </p:txBody>
      </p:sp>
      <p:sp>
        <p:nvSpPr>
          <p:cNvPr id="48" name="Shape 45"/>
          <p:cNvSpPr/>
          <p:nvPr/>
        </p:nvSpPr>
        <p:spPr>
          <a:xfrm>
            <a:off x="7223760" y="5422392"/>
            <a:ext cx="2029968" cy="594360"/>
          </a:xfrm>
          <a:prstGeom prst="roundRect">
            <a:avLst>
              <a:gd name="adj" fmla="val 7692"/>
            </a:avLst>
          </a:prstGeom>
          <a:solidFill>
            <a:srgbClr val="F2EEFF"/>
          </a:solidFill>
          <a:ln w="8890">
            <a:solidFill>
              <a:srgbClr val="C9D7EF"/>
            </a:solidFill>
            <a:prstDash val="solid"/>
          </a:ln>
        </p:spPr>
      </p:sp>
      <p:sp>
        <p:nvSpPr>
          <p:cNvPr id="49" name="Text 46"/>
          <p:cNvSpPr/>
          <p:nvPr/>
        </p:nvSpPr>
        <p:spPr>
          <a:xfrm>
            <a:off x="7333488" y="5559552"/>
            <a:ext cx="181051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02448"/>
                </a:solidFill>
              </a:rPr>
              <a:t>Deterministic</a:t>
            </a:r>
            <a:endParaRPr lang="en-US" sz="900" dirty="0"/>
          </a:p>
        </p:txBody>
      </p:sp>
      <p:sp>
        <p:nvSpPr>
          <p:cNvPr id="50" name="Text 47"/>
          <p:cNvSpPr/>
          <p:nvPr/>
        </p:nvSpPr>
        <p:spPr>
          <a:xfrm>
            <a:off x="7333488" y="5751576"/>
            <a:ext cx="181051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67797"/>
                </a:solidFill>
              </a:rPr>
              <a:t>deletion</a:t>
            </a:r>
            <a:endParaRPr lang="en-US" sz="750" dirty="0"/>
          </a:p>
        </p:txBody>
      </p:sp>
      <p:sp>
        <p:nvSpPr>
          <p:cNvPr id="51" name="Shape 48"/>
          <p:cNvSpPr/>
          <p:nvPr/>
        </p:nvSpPr>
        <p:spPr>
          <a:xfrm>
            <a:off x="9454896" y="5422392"/>
            <a:ext cx="2029968" cy="594360"/>
          </a:xfrm>
          <a:prstGeom prst="roundRect">
            <a:avLst>
              <a:gd name="adj" fmla="val 7692"/>
            </a:avLst>
          </a:prstGeom>
          <a:solidFill>
            <a:srgbClr val="EEF4FF"/>
          </a:solidFill>
          <a:ln w="8890">
            <a:solidFill>
              <a:srgbClr val="C9D7EF"/>
            </a:solidFill>
            <a:prstDash val="solid"/>
          </a:ln>
        </p:spPr>
      </p:sp>
      <p:sp>
        <p:nvSpPr>
          <p:cNvPr id="52" name="Text 49"/>
          <p:cNvSpPr/>
          <p:nvPr/>
        </p:nvSpPr>
        <p:spPr>
          <a:xfrm>
            <a:off x="9564624" y="5559552"/>
            <a:ext cx="181051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02448"/>
                </a:solidFill>
              </a:rPr>
              <a:t>Model is never</a:t>
            </a:r>
            <a:endParaRPr lang="en-US" sz="900" dirty="0"/>
          </a:p>
        </p:txBody>
      </p:sp>
      <p:sp>
        <p:nvSpPr>
          <p:cNvPr id="53" name="Text 50"/>
          <p:cNvSpPr/>
          <p:nvPr/>
        </p:nvSpPr>
        <p:spPr>
          <a:xfrm>
            <a:off x="9564624" y="5751576"/>
            <a:ext cx="181051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67797"/>
                </a:solidFill>
              </a:rPr>
              <a:t>the authority</a:t>
            </a:r>
            <a:endParaRPr lang="en-US" sz="750" dirty="0"/>
          </a:p>
        </p:txBody>
      </p:sp>
      <p:sp>
        <p:nvSpPr>
          <p:cNvPr id="54" name="Text 51"/>
          <p:cNvSpPr/>
          <p:nvPr/>
        </p:nvSpPr>
        <p:spPr>
          <a:xfrm>
            <a:off x="3657600" y="6592824"/>
            <a:ext cx="72237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30" dirty="0">
                <a:solidFill>
                  <a:srgbClr val="667797"/>
                </a:solidFill>
              </a:rPr>
              <a:t>Architecture proposed for a granted Connect capability; production rights and contracts remain to be agreed.</a:t>
            </a:r>
            <a:endParaRPr lang="en-US" sz="63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mahmoudashraf/Downloads/Projects/TheBaseRepo/Platfrom/loomai-site/public/assets/reference/loom-word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4048" y="219456"/>
            <a:ext cx="1609344" cy="39319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321040" y="310896"/>
            <a:ext cx="3246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spc="130" kern="0" dirty="0">
                <a:solidFill>
                  <a:srgbClr val="1265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PARTNER</a:t>
            </a:r>
            <a:endParaRPr lang="en-US" sz="800" dirty="0"/>
          </a:p>
        </p:txBody>
      </p:sp>
      <p:sp>
        <p:nvSpPr>
          <p:cNvPr id="4" name="Text 1"/>
          <p:cNvSpPr/>
          <p:nvPr/>
        </p:nvSpPr>
        <p:spPr>
          <a:xfrm>
            <a:off x="384048" y="6601968"/>
            <a:ext cx="274320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80" kern="0" dirty="0">
                <a:solidFill>
                  <a:srgbClr val="667797"/>
                </a:solidFill>
              </a:rPr>
              <a:t>CONFIDENTIAL PARTNERSHIP DISCUSSION</a:t>
            </a:r>
            <a:endParaRPr lang="en-US" sz="700" dirty="0"/>
          </a:p>
        </p:txBody>
      </p:sp>
      <p:sp>
        <p:nvSpPr>
          <p:cNvPr id="5" name="Text 2"/>
          <p:cNvSpPr/>
          <p:nvPr/>
        </p:nvSpPr>
        <p:spPr>
          <a:xfrm>
            <a:off x="11292840" y="6583680"/>
            <a:ext cx="4114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67797"/>
                </a:solidFill>
              </a:rPr>
              <a:t>04</a:t>
            </a:r>
            <a:endParaRPr lang="en-US" sz="800" dirty="0"/>
          </a:p>
        </p:txBody>
      </p:sp>
      <p:sp>
        <p:nvSpPr>
          <p:cNvPr id="6" name="Text 3"/>
          <p:cNvSpPr/>
          <p:nvPr/>
        </p:nvSpPr>
        <p:spPr>
          <a:xfrm>
            <a:off x="502920" y="786384"/>
            <a:ext cx="5120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05BCE7"/>
                </a:solidFill>
              </a:rPr>
              <a:t>EXTEND AUTOTRADER'S PLATFORM WITHOUT COMPETING WITH IT.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502920" y="1005840"/>
            <a:ext cx="10972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071B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Autotrader remains the data and automotive-product authority. LoomAI provides the governed AI experience and repeatable deployment layer.</a:t>
            </a:r>
            <a:endParaRPr lang="en-US" sz="2800" dirty="0"/>
          </a:p>
        </p:txBody>
      </p:sp>
      <p:sp>
        <p:nvSpPr>
          <p:cNvPr id="8" name="Shape 5"/>
          <p:cNvSpPr/>
          <p:nvPr/>
        </p:nvSpPr>
        <p:spPr>
          <a:xfrm>
            <a:off x="530352" y="2194560"/>
            <a:ext cx="3401568" cy="2359152"/>
          </a:xfrm>
          <a:prstGeom prst="roundRect">
            <a:avLst>
              <a:gd name="adj" fmla="val 2713"/>
            </a:avLst>
          </a:prstGeom>
          <a:solidFill>
            <a:srgbClr val="EAFBFE"/>
          </a:solidFill>
          <a:ln w="12700">
            <a:solidFill>
              <a:srgbClr val="A9DDEB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04672" y="2496312"/>
            <a:ext cx="21031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20" kern="0" dirty="0">
                <a:solidFill>
                  <a:srgbClr val="05BCE7"/>
                </a:solidFill>
              </a:rPr>
              <a:t>AUTOTRADER BRINGS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804672" y="2761488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71B4D"/>
                </a:solidFill>
              </a:rPr>
              <a:t>Trusted automotive authority</a:t>
            </a:r>
            <a:endParaRPr lang="en-US" sz="1700" dirty="0"/>
          </a:p>
        </p:txBody>
      </p:sp>
      <p:sp>
        <p:nvSpPr>
          <p:cNvPr id="11" name="Text 8"/>
          <p:cNvSpPr/>
          <p:nvPr/>
        </p:nvSpPr>
        <p:spPr>
          <a:xfrm>
            <a:off x="822960" y="3191256"/>
            <a:ext cx="2761488" cy="10515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165100" indent="-165100">
              <a:buSzPct val="100000"/>
              <a:buChar char="•"/>
            </a:pPr>
            <a:r>
              <a:rPr lang="en-US" sz="1000" dirty="0">
                <a:solidFill>
                  <a:srgbClr val="30466E"/>
                </a:solidFill>
              </a:rPr>
              <a:t>Authorised data and advertiser scope</a:t>
            </a:r>
            <a:endParaRPr lang="en-US" sz="1000" dirty="0"/>
          </a:p>
          <a:p>
            <a:pPr marL="165100" indent="-165100">
              <a:buSzPct val="100000"/>
              <a:buChar char="•"/>
            </a:pPr>
            <a:r>
              <a:rPr lang="en-US" sz="1000" dirty="0">
                <a:solidFill>
                  <a:srgbClr val="30466E"/>
                </a:solidFill>
              </a:rPr>
              <a:t>Connect capabilities and real-time contracts</a:t>
            </a:r>
            <a:endParaRPr lang="en-US" sz="1000" dirty="0"/>
          </a:p>
          <a:p>
            <a:pPr marL="165100" indent="-165100">
              <a:buSzPct val="100000"/>
              <a:buChar char="•"/>
            </a:pPr>
            <a:r>
              <a:rPr lang="en-US" sz="1000" dirty="0">
                <a:solidFill>
                  <a:srgbClr val="30466E"/>
                </a:solidFill>
              </a:rPr>
              <a:t>Marketplace reach and retailer relationships</a:t>
            </a:r>
            <a:endParaRPr lang="en-US" sz="1000" dirty="0"/>
          </a:p>
          <a:p>
            <a:pPr marL="165100" indent="-165100">
              <a:buSzPct val="100000"/>
              <a:buChar char="•"/>
            </a:pPr>
            <a:r>
              <a:rPr lang="en-US" sz="1000" dirty="0">
                <a:solidFill>
                  <a:srgbClr val="30466E"/>
                </a:solidFill>
              </a:rPr>
              <a:t>Deal Builder, Co-Driver and conversion journeys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4096512" y="2999232"/>
            <a:ext cx="658368" cy="658368"/>
          </a:xfrm>
          <a:prstGeom prst="ellipse">
            <a:avLst/>
          </a:prstGeom>
          <a:solidFill>
            <a:srgbClr val="071B4D"/>
          </a:solidFill>
          <a:ln w="12700">
            <a:solidFill>
              <a:srgbClr val="071B4D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096512" y="3136392"/>
            <a:ext cx="6583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+</a:t>
            </a:r>
            <a:endParaRPr lang="en-US" sz="2200" dirty="0"/>
          </a:p>
        </p:txBody>
      </p:sp>
      <p:sp>
        <p:nvSpPr>
          <p:cNvPr id="14" name="Shape 11"/>
          <p:cNvSpPr/>
          <p:nvPr/>
        </p:nvSpPr>
        <p:spPr>
          <a:xfrm>
            <a:off x="4919472" y="2194560"/>
            <a:ext cx="3401568" cy="2359152"/>
          </a:xfrm>
          <a:prstGeom prst="roundRect">
            <a:avLst>
              <a:gd name="adj" fmla="val 2713"/>
            </a:avLst>
          </a:prstGeom>
          <a:solidFill>
            <a:srgbClr val="F2EEFF"/>
          </a:solidFill>
          <a:ln w="12700">
            <a:solidFill>
              <a:srgbClr val="C6B9FA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5193792" y="2496312"/>
            <a:ext cx="21031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20" kern="0" dirty="0">
                <a:solidFill>
                  <a:srgbClr val="7443F5"/>
                </a:solidFill>
              </a:rPr>
              <a:t>LOOMAI BRINGS</a:t>
            </a:r>
            <a:endParaRPr lang="en-US" sz="850" dirty="0"/>
          </a:p>
        </p:txBody>
      </p:sp>
      <p:sp>
        <p:nvSpPr>
          <p:cNvPr id="16" name="Text 13"/>
          <p:cNvSpPr/>
          <p:nvPr/>
        </p:nvSpPr>
        <p:spPr>
          <a:xfrm>
            <a:off x="5193792" y="2761488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71B4D"/>
                </a:solidFill>
              </a:rPr>
              <a:t>Governed AI enablement</a:t>
            </a:r>
            <a:endParaRPr lang="en-US" sz="1700" dirty="0"/>
          </a:p>
        </p:txBody>
      </p:sp>
      <p:sp>
        <p:nvSpPr>
          <p:cNvPr id="17" name="Text 14"/>
          <p:cNvSpPr/>
          <p:nvPr/>
        </p:nvSpPr>
        <p:spPr>
          <a:xfrm>
            <a:off x="5212080" y="3191256"/>
            <a:ext cx="2761488" cy="10515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165100" indent="-165100">
              <a:buSzPct val="100000"/>
              <a:buChar char="•"/>
            </a:pPr>
            <a:r>
              <a:rPr lang="en-US" sz="1000" dirty="0">
                <a:solidFill>
                  <a:srgbClr val="30466E"/>
                </a:solidFill>
              </a:rPr>
              <a:t>Dealer-isolated deployments and lifecycle</a:t>
            </a:r>
            <a:endParaRPr lang="en-US" sz="1000" dirty="0"/>
          </a:p>
          <a:p>
            <a:pPr marL="165100" indent="-165100">
              <a:buSzPct val="100000"/>
              <a:buChar char="•"/>
            </a:pPr>
            <a:r>
              <a:rPr lang="en-US" sz="1000" dirty="0">
                <a:solidFill>
                  <a:srgbClr val="30466E"/>
                </a:solidFill>
              </a:rPr>
              <a:t>Grounded reasoning across stock and policy</a:t>
            </a:r>
            <a:endParaRPr lang="en-US" sz="1000" dirty="0"/>
          </a:p>
          <a:p>
            <a:pPr marL="165100" indent="-165100">
              <a:buSzPct val="100000"/>
              <a:buChar char="•"/>
            </a:pPr>
            <a:r>
              <a:rPr lang="en-US" sz="1000" dirty="0">
                <a:solidFill>
                  <a:srgbClr val="30466E"/>
                </a:solidFill>
              </a:rPr>
              <a:t>Governed actions, confirmations and receipts</a:t>
            </a:r>
            <a:endParaRPr lang="en-US" sz="1000" dirty="0"/>
          </a:p>
          <a:p>
            <a:pPr marL="165100" indent="-165100">
              <a:buSzPct val="100000"/>
              <a:buChar char="•"/>
            </a:pPr>
            <a:r>
              <a:rPr lang="en-US" sz="1000" dirty="0">
                <a:solidFill>
                  <a:srgbClr val="30466E"/>
                </a:solidFill>
              </a:rPr>
              <a:t>Reusable templates, plugins and UI surfaces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8485632" y="2194560"/>
            <a:ext cx="3145536" cy="2359152"/>
          </a:xfrm>
          <a:prstGeom prst="roundRect">
            <a:avLst>
              <a:gd name="adj" fmla="val 2713"/>
            </a:avLst>
          </a:prstGeom>
          <a:solidFill>
            <a:srgbClr val="071B4D"/>
          </a:solidFill>
          <a:ln w="12700">
            <a:solidFill>
              <a:srgbClr val="071B4D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8759952" y="2496312"/>
            <a:ext cx="17373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20" kern="0" dirty="0">
                <a:solidFill>
                  <a:srgbClr val="7EE8FF"/>
                </a:solidFill>
              </a:rPr>
              <a:t>JOINT OUTCOME</a:t>
            </a:r>
            <a:endParaRPr lang="en-US" sz="850" dirty="0"/>
          </a:p>
        </p:txBody>
      </p:sp>
      <p:sp>
        <p:nvSpPr>
          <p:cNvPr id="20" name="Text 17"/>
          <p:cNvSpPr/>
          <p:nvPr/>
        </p:nvSpPr>
        <p:spPr>
          <a:xfrm>
            <a:off x="8759952" y="276148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Better-qualified buyers</a:t>
            </a:r>
            <a:endParaRPr lang="en-US" sz="1700" dirty="0"/>
          </a:p>
        </p:txBody>
      </p:sp>
      <p:sp>
        <p:nvSpPr>
          <p:cNvPr id="21" name="Text 18"/>
          <p:cNvSpPr/>
          <p:nvPr/>
        </p:nvSpPr>
        <p:spPr>
          <a:xfrm>
            <a:off x="8778240" y="3191256"/>
            <a:ext cx="2423160" cy="10515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165100" indent="-165100">
              <a:buSzPct val="100000"/>
              <a:buChar char="•"/>
            </a:pPr>
            <a:r>
              <a:rPr lang="en-US" sz="950" dirty="0">
                <a:solidFill>
                  <a:srgbClr val="E2EBFC"/>
                </a:solidFill>
              </a:rPr>
              <a:t>Relevant dealer-only shortlists</a:t>
            </a:r>
            <a:endParaRPr lang="en-US" sz="950" dirty="0"/>
          </a:p>
          <a:p>
            <a:pPr marL="165100" indent="-165100">
              <a:buSzPct val="100000"/>
              <a:buChar char="•"/>
            </a:pPr>
            <a:r>
              <a:rPr lang="en-US" sz="950" dirty="0">
                <a:solidFill>
                  <a:srgbClr val="E2EBFC"/>
                </a:solidFill>
              </a:rPr>
              <a:t>Fewer stale or unsupported answers</a:t>
            </a:r>
            <a:endParaRPr lang="en-US" sz="950" dirty="0"/>
          </a:p>
          <a:p>
            <a:pPr marL="165100" indent="-165100">
              <a:buSzPct val="100000"/>
              <a:buChar char="•"/>
            </a:pPr>
            <a:r>
              <a:rPr lang="en-US" sz="950" dirty="0">
                <a:solidFill>
                  <a:srgbClr val="E2EBFC"/>
                </a:solidFill>
              </a:rPr>
              <a:t>Consented context into the next journey</a:t>
            </a:r>
            <a:endParaRPr lang="en-US" sz="950" dirty="0"/>
          </a:p>
          <a:p>
            <a:pPr marL="165100" indent="-165100">
              <a:buSzPct val="100000"/>
              <a:buChar char="•"/>
            </a:pPr>
            <a:r>
              <a:rPr lang="en-US" sz="950" dirty="0">
                <a:solidFill>
                  <a:srgbClr val="E2EBFC"/>
                </a:solidFill>
              </a:rPr>
              <a:t>Measurable conversion and trust evidence</a:t>
            </a:r>
            <a:endParaRPr lang="en-US" sz="950" dirty="0"/>
          </a:p>
        </p:txBody>
      </p:sp>
      <p:sp>
        <p:nvSpPr>
          <p:cNvPr id="22" name="Text 19"/>
          <p:cNvSpPr/>
          <p:nvPr/>
        </p:nvSpPr>
        <p:spPr>
          <a:xfrm>
            <a:off x="548640" y="4882896"/>
            <a:ext cx="30175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20" kern="0" dirty="0">
                <a:solidFill>
                  <a:srgbClr val="1265F3"/>
                </a:solidFill>
              </a:rPr>
              <a:t>FLEXIBILITY WITHOUT ONE-OFF BUILDS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530352" y="5212080"/>
            <a:ext cx="2048256" cy="292608"/>
          </a:xfrm>
          <a:prstGeom prst="roundRect">
            <a:avLst>
              <a:gd name="adj" fmla="val 18750"/>
            </a:avLst>
          </a:prstGeom>
          <a:solidFill>
            <a:srgbClr val="EEF4FF"/>
          </a:solidFill>
          <a:ln w="12700">
            <a:solidFill>
              <a:srgbClr val="EEF4FF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603504" y="5280660"/>
            <a:ext cx="190195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265F3"/>
                </a:solidFill>
              </a:rPr>
              <a:t>One reusable dealership template</a:t>
            </a:r>
            <a:endParaRPr lang="en-US" sz="800" dirty="0"/>
          </a:p>
        </p:txBody>
      </p:sp>
      <p:sp>
        <p:nvSpPr>
          <p:cNvPr id="25" name="Shape 22"/>
          <p:cNvSpPr/>
          <p:nvPr/>
        </p:nvSpPr>
        <p:spPr>
          <a:xfrm>
            <a:off x="2752344" y="5212080"/>
            <a:ext cx="2048256" cy="292608"/>
          </a:xfrm>
          <a:prstGeom prst="roundRect">
            <a:avLst>
              <a:gd name="adj" fmla="val 18750"/>
            </a:avLst>
          </a:prstGeom>
          <a:solidFill>
            <a:srgbClr val="F2EEFF"/>
          </a:solidFill>
          <a:ln w="12700">
            <a:solidFill>
              <a:srgbClr val="F2EEFF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2825496" y="5280660"/>
            <a:ext cx="190195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7443F5"/>
                </a:solidFill>
              </a:rPr>
              <a:t>Plugins compile only granted capabilities</a:t>
            </a:r>
            <a:endParaRPr lang="en-US" sz="800" dirty="0"/>
          </a:p>
        </p:txBody>
      </p:sp>
      <p:sp>
        <p:nvSpPr>
          <p:cNvPr id="27" name="Shape 24"/>
          <p:cNvSpPr/>
          <p:nvPr/>
        </p:nvSpPr>
        <p:spPr>
          <a:xfrm>
            <a:off x="4974336" y="5212080"/>
            <a:ext cx="2048256" cy="292608"/>
          </a:xfrm>
          <a:prstGeom prst="roundRect">
            <a:avLst>
              <a:gd name="adj" fmla="val 18750"/>
            </a:avLst>
          </a:prstGeom>
          <a:solidFill>
            <a:srgbClr val="EEF4FF"/>
          </a:solidFill>
          <a:ln w="12700">
            <a:solidFill>
              <a:srgbClr val="EEF4FF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5047488" y="5280660"/>
            <a:ext cx="190195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265F3"/>
                </a:solidFill>
              </a:rPr>
              <a:t>Approved model, vector and storage choices</a:t>
            </a:r>
            <a:endParaRPr lang="en-US" sz="800" dirty="0"/>
          </a:p>
        </p:txBody>
      </p:sp>
      <p:sp>
        <p:nvSpPr>
          <p:cNvPr id="29" name="Shape 26"/>
          <p:cNvSpPr/>
          <p:nvPr/>
        </p:nvSpPr>
        <p:spPr>
          <a:xfrm>
            <a:off x="7196328" y="5212080"/>
            <a:ext cx="2048256" cy="292608"/>
          </a:xfrm>
          <a:prstGeom prst="roundRect">
            <a:avLst>
              <a:gd name="adj" fmla="val 18750"/>
            </a:avLst>
          </a:prstGeom>
          <a:solidFill>
            <a:srgbClr val="F2EEFF"/>
          </a:solidFill>
          <a:ln w="12700">
            <a:solidFill>
              <a:srgbClr val="F2EEFF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7269480" y="5280660"/>
            <a:ext cx="190195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7443F5"/>
                </a:solidFill>
              </a:rPr>
              <a:t>Embed script or native host integration</a:t>
            </a:r>
            <a:endParaRPr lang="en-US" sz="800" dirty="0"/>
          </a:p>
        </p:txBody>
      </p:sp>
      <p:sp>
        <p:nvSpPr>
          <p:cNvPr id="31" name="Shape 28"/>
          <p:cNvSpPr/>
          <p:nvPr/>
        </p:nvSpPr>
        <p:spPr>
          <a:xfrm>
            <a:off x="9418320" y="5212080"/>
            <a:ext cx="2048256" cy="292608"/>
          </a:xfrm>
          <a:prstGeom prst="roundRect">
            <a:avLst>
              <a:gd name="adj" fmla="val 18750"/>
            </a:avLst>
          </a:prstGeom>
          <a:solidFill>
            <a:srgbClr val="EEF4FF"/>
          </a:solidFill>
          <a:ln w="12700">
            <a:solidFill>
              <a:srgbClr val="EEF4FF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9491472" y="5280660"/>
            <a:ext cx="190195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265F3"/>
                </a:solidFill>
              </a:rPr>
              <a:t>Deployment-local traffic and secrets</a:t>
            </a:r>
            <a:endParaRPr lang="en-US" sz="800" dirty="0"/>
          </a:p>
        </p:txBody>
      </p:sp>
      <p:sp>
        <p:nvSpPr>
          <p:cNvPr id="33" name="Shape 30"/>
          <p:cNvSpPr/>
          <p:nvPr/>
        </p:nvSpPr>
        <p:spPr>
          <a:xfrm>
            <a:off x="530352" y="5715000"/>
            <a:ext cx="11100816" cy="402336"/>
          </a:xfrm>
          <a:prstGeom prst="roundRect">
            <a:avLst>
              <a:gd name="adj" fmla="val 9091"/>
            </a:avLst>
          </a:prstGeom>
          <a:solidFill>
            <a:srgbClr val="FFF4DD"/>
          </a:solidFill>
          <a:ln w="10160">
            <a:solidFill>
              <a:srgbClr val="F2D49B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768096" y="5843016"/>
            <a:ext cx="1065276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B86A00"/>
                </a:solidFill>
              </a:rPr>
              <a:t>Not proposing: a new marketplace, a data-resale layer, a replacement for Deal Builder, or another generic chatbot.</a:t>
            </a:r>
            <a:endParaRPr lang="en-US" sz="900" dirty="0"/>
          </a:p>
        </p:txBody>
      </p:sp>
      <p:sp>
        <p:nvSpPr>
          <p:cNvPr id="35" name="Text 32"/>
          <p:cNvSpPr/>
          <p:nvPr/>
        </p:nvSpPr>
        <p:spPr>
          <a:xfrm>
            <a:off x="3657600" y="6592824"/>
            <a:ext cx="72237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30" dirty="0">
                <a:solidFill>
                  <a:srgbClr val="667797"/>
                </a:solidFill>
              </a:rPr>
              <a:t>Sources: autotrader.co.uk/partners/retailer/platform/autotrader-connect | help.autotrader.co.uk Dealer Websites</a:t>
            </a:r>
            <a:endParaRPr lang="en-US" sz="63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mahmoudashraf/Downloads/Projects/TheBaseRepo/Platfrom/loomai-site/public/assets/reference/loom-word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4048" y="219456"/>
            <a:ext cx="1609344" cy="39319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321040" y="310896"/>
            <a:ext cx="3246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spc="130" kern="0" dirty="0">
                <a:solidFill>
                  <a:srgbClr val="1265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PILOT PROPOSAL AND PARTNERSHIP ASK</a:t>
            </a:r>
            <a:endParaRPr lang="en-US" sz="800" dirty="0"/>
          </a:p>
        </p:txBody>
      </p:sp>
      <p:sp>
        <p:nvSpPr>
          <p:cNvPr id="4" name="Text 1"/>
          <p:cNvSpPr/>
          <p:nvPr/>
        </p:nvSpPr>
        <p:spPr>
          <a:xfrm>
            <a:off x="384048" y="6601968"/>
            <a:ext cx="274320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80" kern="0" dirty="0">
                <a:solidFill>
                  <a:srgbClr val="667797"/>
                </a:solidFill>
              </a:rPr>
              <a:t>CONFIDENTIAL PARTNERSHIP DISCUSSION</a:t>
            </a:r>
            <a:endParaRPr lang="en-US" sz="700" dirty="0"/>
          </a:p>
        </p:txBody>
      </p:sp>
      <p:sp>
        <p:nvSpPr>
          <p:cNvPr id="5" name="Text 2"/>
          <p:cNvSpPr/>
          <p:nvPr/>
        </p:nvSpPr>
        <p:spPr>
          <a:xfrm>
            <a:off x="11292840" y="6583680"/>
            <a:ext cx="4114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67797"/>
                </a:solidFill>
              </a:rPr>
              <a:t>05</a:t>
            </a:r>
            <a:endParaRPr lang="en-US" sz="800" dirty="0"/>
          </a:p>
        </p:txBody>
      </p:sp>
      <p:sp>
        <p:nvSpPr>
          <p:cNvPr id="6" name="Text 3"/>
          <p:cNvSpPr/>
          <p:nvPr/>
        </p:nvSpPr>
        <p:spPr>
          <a:xfrm>
            <a:off x="502920" y="786384"/>
            <a:ext cx="5120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05BCE7"/>
                </a:solidFill>
              </a:rPr>
              <a:t>START WITH ONE BOUNDED, MEASURABLE PILOT.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502920" y="1005840"/>
            <a:ext cx="10972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071B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read-first Connect pilot can prove usefulness, freshness, isolation and conversion value before any broader rollout.</a:t>
            </a:r>
            <a:endParaRPr lang="en-US" sz="2800" dirty="0"/>
          </a:p>
        </p:txBody>
      </p:sp>
      <p:sp>
        <p:nvSpPr>
          <p:cNvPr id="8" name="Shape 5"/>
          <p:cNvSpPr/>
          <p:nvPr/>
        </p:nvSpPr>
        <p:spPr>
          <a:xfrm>
            <a:off x="530352" y="2167128"/>
            <a:ext cx="3657600" cy="3072384"/>
          </a:xfrm>
          <a:prstGeom prst="roundRect">
            <a:avLst>
              <a:gd name="adj" fmla="val 2083"/>
            </a:avLst>
          </a:prstGeom>
          <a:solidFill>
            <a:srgbClr val="071B4D"/>
          </a:solidFill>
          <a:ln w="12700">
            <a:solidFill>
              <a:srgbClr val="071B4D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22960" y="2487168"/>
            <a:ext cx="13716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20" kern="0" dirty="0">
                <a:solidFill>
                  <a:srgbClr val="7EE8FF"/>
                </a:solidFill>
              </a:rPr>
              <a:t>PILOT SCOPE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822960" y="2761488"/>
            <a:ext cx="306324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50" b="1" dirty="0">
                <a:solidFill>
                  <a:srgbClr val="FFFFFF"/>
                </a:solidFill>
              </a:rPr>
              <a:t>One dealer. One advertiser. One isolated deployment.</a:t>
            </a:r>
            <a:endParaRPr lang="en-US" sz="1750" dirty="0"/>
          </a:p>
        </p:txBody>
      </p:sp>
      <p:sp>
        <p:nvSpPr>
          <p:cNvPr id="11" name="Text 8"/>
          <p:cNvSpPr/>
          <p:nvPr/>
        </p:nvSpPr>
        <p:spPr>
          <a:xfrm>
            <a:off x="841248" y="3813048"/>
            <a:ext cx="2907792" cy="10424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165100" indent="-165100">
              <a:buSzPct val="100000"/>
              <a:buChar char="•"/>
            </a:pPr>
            <a:r>
              <a:rPr lang="en-US" sz="880" dirty="0">
                <a:solidFill>
                  <a:srgbClr val="E2EBFC"/>
                </a:solidFill>
              </a:rPr>
              <a:t>Read-first stock discovery and comparison</a:t>
            </a:r>
            <a:endParaRPr lang="en-US" sz="880" dirty="0"/>
          </a:p>
          <a:p>
            <a:pPr marL="165100" indent="-165100">
              <a:buSzPct val="100000"/>
              <a:buChar char="•"/>
            </a:pPr>
            <a:r>
              <a:rPr lang="en-US" sz="880" dirty="0">
                <a:solidFill>
                  <a:srgbClr val="E2EBFC"/>
                </a:solidFill>
              </a:rPr>
              <a:t>Dealer-owned policy knowledge</a:t>
            </a:r>
            <a:endParaRPr lang="en-US" sz="880" dirty="0"/>
          </a:p>
          <a:p>
            <a:pPr marL="165100" indent="-165100">
              <a:buSzPct val="100000"/>
              <a:buChar char="•"/>
            </a:pPr>
            <a:r>
              <a:rPr lang="en-US" sz="880" dirty="0">
                <a:solidFill>
                  <a:srgbClr val="E2EBFC"/>
                </a:solidFill>
              </a:rPr>
              <a:t>Live validation of selected facts</a:t>
            </a:r>
            <a:endParaRPr lang="en-US" sz="880" dirty="0"/>
          </a:p>
          <a:p>
            <a:pPr marL="165100" indent="-165100">
              <a:buSzPct val="100000"/>
              <a:buChar char="•"/>
            </a:pPr>
            <a:r>
              <a:rPr lang="en-US" sz="880" dirty="0">
                <a:solidFill>
                  <a:srgbClr val="E2EBFC"/>
                </a:solidFill>
              </a:rPr>
              <a:t>One confirmed callback, test-drive or agreed handoff</a:t>
            </a:r>
            <a:endParaRPr lang="en-US" sz="880" dirty="0"/>
          </a:p>
          <a:p>
            <a:pPr marL="165100" indent="-165100">
              <a:buSzPct val="100000"/>
              <a:buChar char="•"/>
            </a:pPr>
            <a:r>
              <a:rPr lang="en-US" sz="880" dirty="0">
                <a:solidFill>
                  <a:srgbClr val="E2EBFC"/>
                </a:solidFill>
              </a:rPr>
              <a:t>No provider write unless explicitly granted</a:t>
            </a:r>
            <a:endParaRPr lang="en-US" sz="880" dirty="0"/>
          </a:p>
        </p:txBody>
      </p:sp>
      <p:sp>
        <p:nvSpPr>
          <p:cNvPr id="12" name="Shape 9"/>
          <p:cNvSpPr/>
          <p:nvPr/>
        </p:nvSpPr>
        <p:spPr>
          <a:xfrm>
            <a:off x="4407408" y="2167128"/>
            <a:ext cx="4297680" cy="3072384"/>
          </a:xfrm>
          <a:prstGeom prst="roundRect">
            <a:avLst>
              <a:gd name="adj" fmla="val 2083"/>
            </a:avLst>
          </a:prstGeom>
          <a:solidFill>
            <a:srgbClr val="FFFFFF"/>
          </a:solidFill>
          <a:ln w="11430">
            <a:solidFill>
              <a:srgbClr val="C9D7EF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700016" y="2487168"/>
            <a:ext cx="28346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10" kern="0" dirty="0">
                <a:solidFill>
                  <a:srgbClr val="7443F5"/>
                </a:solidFill>
              </a:rPr>
              <a:t>WHAT WE NEED FROM AUTOTRADER</a:t>
            </a:r>
            <a:endParaRPr lang="en-US" sz="850" dirty="0"/>
          </a:p>
        </p:txBody>
      </p:sp>
      <p:sp>
        <p:nvSpPr>
          <p:cNvPr id="14" name="Text 11"/>
          <p:cNvSpPr/>
          <p:nvPr/>
        </p:nvSpPr>
        <p:spPr>
          <a:xfrm>
            <a:off x="4700016" y="2798064"/>
            <a:ext cx="3639312" cy="20848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165100" indent="-165100">
              <a:buSzPct val="100000"/>
              <a:buChar char="•"/>
            </a:pPr>
            <a:r>
              <a:rPr lang="en-US" sz="940" dirty="0">
                <a:solidFill>
                  <a:srgbClr val="30466E"/>
                </a:solidFill>
              </a:rPr>
              <a:t>Named product sponsor and Connect Integration Manager</a:t>
            </a:r>
            <a:endParaRPr lang="en-US" sz="940" dirty="0"/>
          </a:p>
          <a:p>
            <a:pPr marL="165100" indent="-165100">
              <a:buSzPct val="100000"/>
              <a:buChar char="•"/>
            </a:pPr>
            <a:r>
              <a:rPr lang="en-US" sz="940" dirty="0">
                <a:solidFill>
                  <a:srgbClr val="30466E"/>
                </a:solidFill>
              </a:rPr>
              <a:t>Sandbox credentials, capability grants, test advertiser and representative stock</a:t>
            </a:r>
            <a:endParaRPr lang="en-US" sz="940" dirty="0"/>
          </a:p>
          <a:p>
            <a:pPr marL="165100" indent="-165100">
              <a:buSzPct val="100000"/>
              <a:buChar char="•"/>
            </a:pPr>
            <a:r>
              <a:rPr lang="en-US" sz="940" dirty="0">
                <a:solidFill>
                  <a:srgbClr val="30466E"/>
                </a:solidFill>
              </a:rPr>
              <a:t>Written rights for retention, embeddings, inference, display and attribution</a:t>
            </a:r>
            <a:endParaRPr lang="en-US" sz="940" dirty="0"/>
          </a:p>
          <a:p>
            <a:pPr marL="165100" indent="-165100">
              <a:buSzPct val="100000"/>
              <a:buChar char="•"/>
            </a:pPr>
            <a:r>
              <a:rPr lang="en-US" sz="940" dirty="0">
                <a:solidFill>
                  <a:srgbClr val="30466E"/>
                </a:solidFill>
              </a:rPr>
              <a:t>Notification registration, retries and test-event path</a:t>
            </a:r>
            <a:endParaRPr lang="en-US" sz="940" dirty="0"/>
          </a:p>
          <a:p>
            <a:pPr marL="165100" indent="-165100">
              <a:buSzPct val="100000"/>
              <a:buChar char="•"/>
            </a:pPr>
            <a:r>
              <a:rPr lang="en-US" sz="940" dirty="0">
                <a:solidFill>
                  <a:srgbClr val="30466E"/>
                </a:solidFill>
              </a:rPr>
              <a:t>Preferred Deal Builder, enquiry, CRM or appointment handoff</a:t>
            </a:r>
            <a:endParaRPr lang="en-US" sz="940" dirty="0"/>
          </a:p>
          <a:p>
            <a:pPr marL="165100" indent="-165100">
              <a:buSzPct val="100000"/>
              <a:buChar char="•"/>
            </a:pPr>
            <a:r>
              <a:rPr lang="en-US" sz="940" dirty="0">
                <a:solidFill>
                  <a:srgbClr val="30466E"/>
                </a:solidFill>
              </a:rPr>
              <a:t>Go-live checklist and one candidate design-partner dealer</a:t>
            </a:r>
            <a:endParaRPr lang="en-US" sz="940" dirty="0"/>
          </a:p>
        </p:txBody>
      </p:sp>
      <p:sp>
        <p:nvSpPr>
          <p:cNvPr id="15" name="Shape 12"/>
          <p:cNvSpPr/>
          <p:nvPr/>
        </p:nvSpPr>
        <p:spPr>
          <a:xfrm>
            <a:off x="8942832" y="2167128"/>
            <a:ext cx="2688336" cy="3072384"/>
          </a:xfrm>
          <a:prstGeom prst="roundRect">
            <a:avLst>
              <a:gd name="adj" fmla="val 2381"/>
            </a:avLst>
          </a:prstGeom>
          <a:solidFill>
            <a:srgbClr val="E9F8F1"/>
          </a:solidFill>
          <a:ln w="11430">
            <a:solidFill>
              <a:srgbClr val="A5DFC9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9198864" y="2487168"/>
            <a:ext cx="17373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10" kern="0" dirty="0">
                <a:solidFill>
                  <a:srgbClr val="0F9F74"/>
                </a:solidFill>
              </a:rPr>
              <a:t>SUCCESS GATES</a:t>
            </a:r>
            <a:endParaRPr lang="en-US" sz="850" dirty="0"/>
          </a:p>
        </p:txBody>
      </p:sp>
      <p:sp>
        <p:nvSpPr>
          <p:cNvPr id="17" name="Text 14"/>
          <p:cNvSpPr/>
          <p:nvPr/>
        </p:nvSpPr>
        <p:spPr>
          <a:xfrm>
            <a:off x="9189720" y="2807208"/>
            <a:ext cx="2048256" cy="16642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165100" indent="-165100">
              <a:buSzPct val="100000"/>
              <a:buChar char="•"/>
            </a:pPr>
            <a:r>
              <a:rPr lang="en-US" sz="940" dirty="0">
                <a:solidFill>
                  <a:srgbClr val="30466E"/>
                </a:solidFill>
              </a:rPr>
              <a:t>Useful-result rate</a:t>
            </a:r>
            <a:endParaRPr lang="en-US" sz="940" dirty="0"/>
          </a:p>
          <a:p>
            <a:pPr marL="165100" indent="-165100">
              <a:buSzPct val="100000"/>
              <a:buChar char="•"/>
            </a:pPr>
            <a:r>
              <a:rPr lang="en-US" sz="940" dirty="0">
                <a:solidFill>
                  <a:srgbClr val="30466E"/>
                </a:solidFill>
              </a:rPr>
              <a:t>Shortlist and comparison completion</a:t>
            </a:r>
            <a:endParaRPr lang="en-US" sz="940" dirty="0"/>
          </a:p>
          <a:p>
            <a:pPr marL="165100" indent="-165100">
              <a:buSzPct val="100000"/>
              <a:buChar char="•"/>
            </a:pPr>
            <a:r>
              <a:rPr lang="en-US" sz="940" dirty="0">
                <a:solidFill>
                  <a:srgbClr val="30466E"/>
                </a:solidFill>
              </a:rPr>
              <a:t>Fact-support and freshness</a:t>
            </a:r>
            <a:endParaRPr lang="en-US" sz="940" dirty="0"/>
          </a:p>
          <a:p>
            <a:pPr marL="165100" indent="-165100">
              <a:buSzPct val="100000"/>
              <a:buChar char="•"/>
            </a:pPr>
            <a:r>
              <a:rPr lang="en-US" sz="940" dirty="0">
                <a:solidFill>
                  <a:srgbClr val="30466E"/>
                </a:solidFill>
              </a:rPr>
              <a:t>Qualified handoff rate</a:t>
            </a:r>
            <a:endParaRPr lang="en-US" sz="940" dirty="0"/>
          </a:p>
          <a:p>
            <a:pPr marL="165100" indent="-165100">
              <a:buSzPct val="100000"/>
              <a:buChar char="•"/>
            </a:pPr>
            <a:r>
              <a:rPr lang="en-US" sz="940" dirty="0">
                <a:solidFill>
                  <a:srgbClr val="30466E"/>
                </a:solidFill>
              </a:rPr>
              <a:t>Zero cross-dealer access</a:t>
            </a:r>
            <a:endParaRPr lang="en-US" sz="940" dirty="0"/>
          </a:p>
          <a:p>
            <a:pPr marL="165100" indent="-165100">
              <a:buSzPct val="100000"/>
              <a:buChar char="•"/>
            </a:pPr>
            <a:r>
              <a:rPr lang="en-US" sz="940" dirty="0">
                <a:solidFill>
                  <a:srgbClr val="30466E"/>
                </a:solidFill>
              </a:rPr>
              <a:t>Deletion and rollback proof</a:t>
            </a:r>
            <a:endParaRPr lang="en-US" sz="940" dirty="0"/>
          </a:p>
        </p:txBody>
      </p:sp>
      <p:pic>
        <p:nvPicPr>
          <p:cNvPr id="1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48672" y="4315968"/>
            <a:ext cx="621792" cy="621792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9144000" y="4983480"/>
            <a:ext cx="219456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F9F74"/>
                </a:solidFill>
              </a:rPr>
              <a:t>Open live demo</a:t>
            </a:r>
            <a:endParaRPr lang="en-US" sz="750" dirty="0"/>
          </a:p>
        </p:txBody>
      </p:sp>
      <p:sp>
        <p:nvSpPr>
          <p:cNvPr id="20" name="Shape 16"/>
          <p:cNvSpPr/>
          <p:nvPr/>
        </p:nvSpPr>
        <p:spPr>
          <a:xfrm>
            <a:off x="530352" y="5504688"/>
            <a:ext cx="11100816" cy="658368"/>
          </a:xfrm>
          <a:prstGeom prst="roundRect">
            <a:avLst>
              <a:gd name="adj" fmla="val 8333"/>
            </a:avLst>
          </a:prstGeom>
          <a:solidFill>
            <a:srgbClr val="EEF4FF"/>
          </a:solidFill>
          <a:ln w="12700">
            <a:solidFill>
              <a:srgbClr val="9DBBFA"/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804672" y="5742432"/>
            <a:ext cx="64008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b="1" spc="110" kern="0" dirty="0">
                <a:solidFill>
                  <a:srgbClr val="1265F3"/>
                </a:solidFill>
              </a:rPr>
              <a:t>THE ASK</a:t>
            </a:r>
            <a:endParaRPr lang="en-US" sz="820" dirty="0"/>
          </a:p>
        </p:txBody>
      </p:sp>
      <p:sp>
        <p:nvSpPr>
          <p:cNvPr id="22" name="Text 18"/>
          <p:cNvSpPr/>
          <p:nvPr/>
        </p:nvSpPr>
        <p:spPr>
          <a:xfrm>
            <a:off x="1554480" y="5678424"/>
            <a:ext cx="9646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71B4D"/>
                </a:solidFill>
              </a:rPr>
              <a:t>Approve an architecture and data-rights workshop, then define a one-dealer Autotrader Connect pilot.</a:t>
            </a:r>
            <a:endParaRPr lang="en-US" sz="1400" dirty="0"/>
          </a:p>
        </p:txBody>
      </p:sp>
      <p:sp>
        <p:nvSpPr>
          <p:cNvPr id="23" name="Text 19"/>
          <p:cNvSpPr/>
          <p:nvPr/>
        </p:nvSpPr>
        <p:spPr>
          <a:xfrm>
            <a:off x="3657600" y="6592824"/>
            <a:ext cx="72237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30" dirty="0">
                <a:solidFill>
                  <a:srgbClr val="667797"/>
                </a:solidFill>
              </a:rPr>
              <a:t>Discussion basis: Autotrader Connect official product, partner and advertiser guidance reviewed 5 Oct 2026.</a:t>
            </a:r>
            <a:endParaRPr lang="en-US" sz="63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Loom AI Labs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LoomAI Platform for Autotrader Connect</dc:title>
  <dc:subject>Autotrader partnership discussion</dc:subject>
  <dc:creator>Loom AI Labs</dc:creator>
  <cp:lastModifiedBy>Loom AI Labs</cp:lastModifiedBy>
  <cp:revision>1</cp:revision>
  <dcterms:created xsi:type="dcterms:W3CDTF">2026-10-05T21:07:34Z</dcterms:created>
  <dcterms:modified xsi:type="dcterms:W3CDTF">2026-10-05T21:07:34Z</dcterms:modified>
</cp:coreProperties>
</file>